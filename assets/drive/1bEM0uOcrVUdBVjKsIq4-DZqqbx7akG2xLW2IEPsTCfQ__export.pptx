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2301923" y="1122363"/>
            <a:ext cx="7588155" cy="26211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2301923" y="3843708"/>
            <a:ext cx="7588155" cy="14140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ctrTitle"/>
          </p:nvPr>
        </p:nvSpPr>
        <p:spPr>
          <a:xfrm>
            <a:off x="2301923" y="1122363"/>
            <a:ext cx="7588155" cy="26211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subTitle"/>
          </p:nvPr>
        </p:nvSpPr>
        <p:spPr>
          <a:xfrm>
            <a:off x="2301923" y="3843708"/>
            <a:ext cx="7588155" cy="14140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603381" y="553616"/>
            <a:ext cx="8273140" cy="40088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603380" y="4589463"/>
            <a:ext cx="8273140" cy="13846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612648" y="548640"/>
            <a:ext cx="10741152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612648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609600" y="547396"/>
            <a:ext cx="10745788" cy="1143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" type="body"/>
          </p:nvPr>
        </p:nvSpPr>
        <p:spPr>
          <a:xfrm>
            <a:off x="609600" y="1685735"/>
            <a:ext cx="5157787" cy="5598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8"/>
          <p:cNvSpPr txBox="1"/>
          <p:nvPr>
            <p:ph idx="2" type="body"/>
          </p:nvPr>
        </p:nvSpPr>
        <p:spPr>
          <a:xfrm>
            <a:off x="609600" y="2386894"/>
            <a:ext cx="5157787" cy="3765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3" type="body"/>
          </p:nvPr>
        </p:nvSpPr>
        <p:spPr>
          <a:xfrm>
            <a:off x="6172200" y="1685735"/>
            <a:ext cx="5183188" cy="5598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8"/>
          <p:cNvSpPr txBox="1"/>
          <p:nvPr>
            <p:ph idx="4" type="body"/>
          </p:nvPr>
        </p:nvSpPr>
        <p:spPr>
          <a:xfrm>
            <a:off x="6172199" y="2386894"/>
            <a:ext cx="5183189" cy="3765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type="title"/>
          </p:nvPr>
        </p:nvSpPr>
        <p:spPr>
          <a:xfrm>
            <a:off x="597160" y="553616"/>
            <a:ext cx="3595634" cy="17575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5134708" y="553616"/>
            <a:ext cx="6279741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9" name="Google Shape;69;p11"/>
          <p:cNvSpPr txBox="1"/>
          <p:nvPr>
            <p:ph idx="2" type="body"/>
          </p:nvPr>
        </p:nvSpPr>
        <p:spPr>
          <a:xfrm>
            <a:off x="597160" y="2311121"/>
            <a:ext cx="3595634" cy="37288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1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>
            <p:ph type="title"/>
          </p:nvPr>
        </p:nvSpPr>
        <p:spPr>
          <a:xfrm>
            <a:off x="594360" y="557784"/>
            <a:ext cx="3595634" cy="221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2"/>
          <p:cNvSpPr/>
          <p:nvPr>
            <p:ph idx="2" type="pic"/>
          </p:nvPr>
        </p:nvSpPr>
        <p:spPr>
          <a:xfrm>
            <a:off x="5063319" y="657103"/>
            <a:ext cx="6483687" cy="5555904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2"/>
          <p:cNvSpPr txBox="1"/>
          <p:nvPr>
            <p:ph idx="1" type="body"/>
          </p:nvPr>
        </p:nvSpPr>
        <p:spPr>
          <a:xfrm>
            <a:off x="609601" y="2826137"/>
            <a:ext cx="3585586" cy="34346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612648" y="548640"/>
            <a:ext cx="10515600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 rot="5400000">
            <a:off x="3622415" y="-1328869"/>
            <a:ext cx="4496065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 rot="5400000">
            <a:off x="7859174" y="2354212"/>
            <a:ext cx="5598466" cy="2047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" type="body"/>
          </p:nvPr>
        </p:nvSpPr>
        <p:spPr>
          <a:xfrm rot="5400000">
            <a:off x="2437312" y="-1020615"/>
            <a:ext cx="5598465" cy="8796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4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5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4.png"/><Relationship Id="rId6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7.png"/><Relationship Id="rId6" Type="http://schemas.openxmlformats.org/officeDocument/2006/relationships/image" Target="../media/image30.png"/><Relationship Id="rId7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8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Relationship Id="rId7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5.png"/><Relationship Id="rId5" Type="http://schemas.openxmlformats.org/officeDocument/2006/relationships/image" Target="../media/image20.png"/><Relationship Id="rId6" Type="http://schemas.openxmlformats.org/officeDocument/2006/relationships/image" Target="../media/image23.png"/><Relationship Id="rId7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Relationship Id="rId4" Type="http://schemas.openxmlformats.org/officeDocument/2006/relationships/image" Target="../media/image3.png"/><Relationship Id="rId5" Type="http://schemas.openxmlformats.org/officeDocument/2006/relationships/image" Target="../media/image27.png"/><Relationship Id="rId6" Type="http://schemas.openxmlformats.org/officeDocument/2006/relationships/image" Target="../media/image40.png"/><Relationship Id="rId7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Relationship Id="rId4" Type="http://schemas.openxmlformats.org/officeDocument/2006/relationships/image" Target="../media/image32.png"/><Relationship Id="rId5" Type="http://schemas.openxmlformats.org/officeDocument/2006/relationships/image" Target="../media/image35.png"/><Relationship Id="rId6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43.png"/><Relationship Id="rId5" Type="http://schemas.openxmlformats.org/officeDocument/2006/relationships/image" Target="../media/image34.png"/><Relationship Id="rId6" Type="http://schemas.openxmlformats.org/officeDocument/2006/relationships/image" Target="../media/image44.png"/><Relationship Id="rId7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5.png"/><Relationship Id="rId4" Type="http://schemas.openxmlformats.org/officeDocument/2006/relationships/image" Target="../media/image48.png"/><Relationship Id="rId5" Type="http://schemas.openxmlformats.org/officeDocument/2006/relationships/image" Target="../media/image42.png"/><Relationship Id="rId6" Type="http://schemas.openxmlformats.org/officeDocument/2006/relationships/image" Target="../media/image3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7.png"/><Relationship Id="rId4" Type="http://schemas.openxmlformats.org/officeDocument/2006/relationships/image" Target="../media/image3.png"/><Relationship Id="rId5" Type="http://schemas.openxmlformats.org/officeDocument/2006/relationships/image" Target="../media/image41.png"/><Relationship Id="rId6" Type="http://schemas.openxmlformats.org/officeDocument/2006/relationships/image" Target="../media/image3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9.png"/><Relationship Id="rId4" Type="http://schemas.openxmlformats.org/officeDocument/2006/relationships/image" Target="../media/image46.png"/><Relationship Id="rId5" Type="http://schemas.openxmlformats.org/officeDocument/2006/relationships/image" Target="../media/image21.png"/><Relationship Id="rId6" Type="http://schemas.openxmlformats.org/officeDocument/2006/relationships/image" Target="../media/image4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56.png"/><Relationship Id="rId5" Type="http://schemas.openxmlformats.org/officeDocument/2006/relationships/image" Target="../media/image51.png"/><Relationship Id="rId6" Type="http://schemas.openxmlformats.org/officeDocument/2006/relationships/image" Target="../media/image5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7.png"/><Relationship Id="rId4" Type="http://schemas.openxmlformats.org/officeDocument/2006/relationships/image" Target="../media/image52.png"/><Relationship Id="rId5" Type="http://schemas.openxmlformats.org/officeDocument/2006/relationships/image" Target="../media/image21.png"/><Relationship Id="rId6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3D abstract blue and gold cube illustration" id="97" name="Google Shape;97;p15"/>
          <p:cNvPicPr preferRelativeResize="0"/>
          <p:nvPr/>
        </p:nvPicPr>
        <p:blipFill rotWithShape="1">
          <a:blip r:embed="rId3">
            <a:alphaModFix/>
          </a:blip>
          <a:srcRect b="6250" l="0" r="0" t="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/>
          <p:nvPr/>
        </p:nvSpPr>
        <p:spPr>
          <a:xfrm>
            <a:off x="7288306" y="0"/>
            <a:ext cx="4903694" cy="6858001"/>
          </a:xfrm>
          <a:prstGeom prst="rect">
            <a:avLst/>
          </a:prstGeom>
          <a:solidFill>
            <a:schemeClr val="dk1">
              <a:alpha val="27059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5"/>
          <p:cNvSpPr txBox="1"/>
          <p:nvPr>
            <p:ph type="ctrTitle"/>
          </p:nvPr>
        </p:nvSpPr>
        <p:spPr>
          <a:xfrm>
            <a:off x="7620001" y="822960"/>
            <a:ext cx="4286054" cy="34747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rial"/>
              <a:buNone/>
            </a:pPr>
            <a:r>
              <a:rPr lang="en-US" sz="5200"/>
              <a:t>Information Systems</a:t>
            </a:r>
            <a:endParaRPr sz="5200"/>
          </a:p>
        </p:txBody>
      </p:sp>
      <p:sp>
        <p:nvSpPr>
          <p:cNvPr id="100" name="Google Shape;100;p15"/>
          <p:cNvSpPr txBox="1"/>
          <p:nvPr>
            <p:ph idx="1" type="subTitle"/>
          </p:nvPr>
        </p:nvSpPr>
        <p:spPr>
          <a:xfrm>
            <a:off x="7620001" y="4419600"/>
            <a:ext cx="3931920" cy="1386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 sz="2200"/>
              <a:t>Year 9 Computing Technology</a:t>
            </a:r>
            <a:endParaRPr sz="2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6"/>
          <p:cNvSpPr txBox="1"/>
          <p:nvPr>
            <p:ph type="title"/>
          </p:nvPr>
        </p:nvSpPr>
        <p:spPr>
          <a:xfrm>
            <a:off x="612649" y="548638"/>
            <a:ext cx="3493008" cy="5788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/>
              <a:t>Learning Intention</a:t>
            </a:r>
            <a:endParaRPr/>
          </a:p>
        </p:txBody>
      </p:sp>
      <p:grpSp>
        <p:nvGrpSpPr>
          <p:cNvPr id="107" name="Google Shape;107;p16"/>
          <p:cNvGrpSpPr/>
          <p:nvPr/>
        </p:nvGrpSpPr>
        <p:grpSpPr>
          <a:xfrm>
            <a:off x="4608246" y="1488968"/>
            <a:ext cx="6949440" cy="3905980"/>
            <a:chOff x="0" y="940328"/>
            <a:chExt cx="6949440" cy="3905980"/>
          </a:xfrm>
        </p:grpSpPr>
        <p:sp>
          <p:nvSpPr>
            <p:cNvPr id="108" name="Google Shape;108;p16"/>
            <p:cNvSpPr/>
            <p:nvPr/>
          </p:nvSpPr>
          <p:spPr>
            <a:xfrm>
              <a:off x="0" y="940328"/>
              <a:ext cx="6949440" cy="1735991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6"/>
            <p:cNvSpPr/>
            <p:nvPr/>
          </p:nvSpPr>
          <p:spPr>
            <a:xfrm>
              <a:off x="525137" y="1330926"/>
              <a:ext cx="954795" cy="954795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6"/>
            <p:cNvSpPr/>
            <p:nvPr/>
          </p:nvSpPr>
          <p:spPr>
            <a:xfrm>
              <a:off x="2005070" y="940328"/>
              <a:ext cx="4944369" cy="17359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6"/>
            <p:cNvSpPr txBox="1"/>
            <p:nvPr/>
          </p:nvSpPr>
          <p:spPr>
            <a:xfrm>
              <a:off x="2005070" y="940328"/>
              <a:ext cx="4944369" cy="17359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3725" lIns="183725" spcFirstLastPara="1" rIns="183725" wrap="square" tIns="183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Describe the purpose of connecting people and systems</a:t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6"/>
            <p:cNvSpPr/>
            <p:nvPr/>
          </p:nvSpPr>
          <p:spPr>
            <a:xfrm>
              <a:off x="0" y="3110317"/>
              <a:ext cx="6949440" cy="1735991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6"/>
            <p:cNvSpPr/>
            <p:nvPr/>
          </p:nvSpPr>
          <p:spPr>
            <a:xfrm>
              <a:off x="525137" y="3500915"/>
              <a:ext cx="954795" cy="95479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6"/>
            <p:cNvSpPr/>
            <p:nvPr/>
          </p:nvSpPr>
          <p:spPr>
            <a:xfrm>
              <a:off x="2005070" y="3110317"/>
              <a:ext cx="4944369" cy="17359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6"/>
            <p:cNvSpPr txBox="1"/>
            <p:nvPr/>
          </p:nvSpPr>
          <p:spPr>
            <a:xfrm>
              <a:off x="2005070" y="3110317"/>
              <a:ext cx="4944369" cy="17359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3725" lIns="183725" spcFirstLastPara="1" rIns="183725" wrap="square" tIns="183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Differentiate between data and information</a:t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7"/>
          <p:cNvSpPr txBox="1"/>
          <p:nvPr>
            <p:ph type="title"/>
          </p:nvPr>
        </p:nvSpPr>
        <p:spPr>
          <a:xfrm>
            <a:off x="612649" y="548638"/>
            <a:ext cx="3493008" cy="5788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/>
              <a:t>Success Criteria</a:t>
            </a:r>
            <a:endParaRPr/>
          </a:p>
        </p:txBody>
      </p:sp>
      <p:grpSp>
        <p:nvGrpSpPr>
          <p:cNvPr id="122" name="Google Shape;122;p17"/>
          <p:cNvGrpSpPr/>
          <p:nvPr/>
        </p:nvGrpSpPr>
        <p:grpSpPr>
          <a:xfrm>
            <a:off x="4608246" y="549346"/>
            <a:ext cx="6949440" cy="5785225"/>
            <a:chOff x="0" y="706"/>
            <a:chExt cx="6949440" cy="5785225"/>
          </a:xfrm>
        </p:grpSpPr>
        <p:sp>
          <p:nvSpPr>
            <p:cNvPr id="123" name="Google Shape;123;p17"/>
            <p:cNvSpPr/>
            <p:nvPr/>
          </p:nvSpPr>
          <p:spPr>
            <a:xfrm>
              <a:off x="0" y="706"/>
              <a:ext cx="6949440" cy="1652921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7"/>
            <p:cNvSpPr/>
            <p:nvPr/>
          </p:nvSpPr>
          <p:spPr>
            <a:xfrm>
              <a:off x="500008" y="372613"/>
              <a:ext cx="909106" cy="909106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7"/>
            <p:cNvSpPr/>
            <p:nvPr/>
          </p:nvSpPr>
          <p:spPr>
            <a:xfrm>
              <a:off x="1909124" y="706"/>
              <a:ext cx="5040315" cy="16529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7"/>
            <p:cNvSpPr txBox="1"/>
            <p:nvPr/>
          </p:nvSpPr>
          <p:spPr>
            <a:xfrm>
              <a:off x="1909124" y="706"/>
              <a:ext cx="5040315" cy="16529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4925" lIns="174925" spcFirstLastPara="1" rIns="174925" wrap="square" tIns="1749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 can describe the purpose of an information system and a digital system.</a:t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7"/>
            <p:cNvSpPr/>
            <p:nvPr/>
          </p:nvSpPr>
          <p:spPr>
            <a:xfrm>
              <a:off x="0" y="2066858"/>
              <a:ext cx="6949440" cy="1652921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500008" y="2438765"/>
              <a:ext cx="909106" cy="909106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1909124" y="2066858"/>
              <a:ext cx="5040315" cy="16529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7"/>
            <p:cNvSpPr txBox="1"/>
            <p:nvPr/>
          </p:nvSpPr>
          <p:spPr>
            <a:xfrm>
              <a:off x="1909124" y="2066858"/>
              <a:ext cx="5040315" cy="16529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4925" lIns="174925" spcFirstLastPara="1" rIns="174925" wrap="square" tIns="1749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 can explain the difference between data and information.</a:t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7"/>
            <p:cNvSpPr/>
            <p:nvPr/>
          </p:nvSpPr>
          <p:spPr>
            <a:xfrm>
              <a:off x="0" y="4133010"/>
              <a:ext cx="6949440" cy="1652921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500008" y="4504917"/>
              <a:ext cx="909106" cy="909106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7"/>
            <p:cNvSpPr/>
            <p:nvPr/>
          </p:nvSpPr>
          <p:spPr>
            <a:xfrm>
              <a:off x="1909124" y="4133010"/>
              <a:ext cx="5040315" cy="16529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7"/>
            <p:cNvSpPr txBox="1"/>
            <p:nvPr/>
          </p:nvSpPr>
          <p:spPr>
            <a:xfrm>
              <a:off x="1909124" y="4133010"/>
              <a:ext cx="5040315" cy="16529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4925" lIns="174925" spcFirstLastPara="1" rIns="174925" wrap="square" tIns="1749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 can outline the components and categories of an information system.</a:t>
              </a:r>
              <a:endPara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8"/>
          <p:cNvSpPr txBox="1"/>
          <p:nvPr>
            <p:ph type="title"/>
          </p:nvPr>
        </p:nvSpPr>
        <p:spPr>
          <a:xfrm>
            <a:off x="612649" y="548638"/>
            <a:ext cx="3493008" cy="5788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/>
              <a:t>What are Information Systems?</a:t>
            </a:r>
            <a:endParaRPr sz="4000"/>
          </a:p>
        </p:txBody>
      </p:sp>
      <p:grpSp>
        <p:nvGrpSpPr>
          <p:cNvPr id="141" name="Google Shape;141;p18"/>
          <p:cNvGrpSpPr/>
          <p:nvPr/>
        </p:nvGrpSpPr>
        <p:grpSpPr>
          <a:xfrm>
            <a:off x="4608246" y="551041"/>
            <a:ext cx="6949440" cy="5781834"/>
            <a:chOff x="0" y="2401"/>
            <a:chExt cx="6949440" cy="5781834"/>
          </a:xfrm>
        </p:grpSpPr>
        <p:sp>
          <p:nvSpPr>
            <p:cNvPr id="142" name="Google Shape;142;p18"/>
            <p:cNvSpPr/>
            <p:nvPr/>
          </p:nvSpPr>
          <p:spPr>
            <a:xfrm>
              <a:off x="0" y="2401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8"/>
            <p:cNvSpPr/>
            <p:nvPr/>
          </p:nvSpPr>
          <p:spPr>
            <a:xfrm>
              <a:off x="368211" y="276278"/>
              <a:ext cx="669475" cy="669475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8"/>
            <p:cNvSpPr/>
            <p:nvPr/>
          </p:nvSpPr>
          <p:spPr>
            <a:xfrm>
              <a:off x="1405898" y="2401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8"/>
            <p:cNvSpPr txBox="1"/>
            <p:nvPr/>
          </p:nvSpPr>
          <p:spPr>
            <a:xfrm>
              <a:off x="1405898" y="2401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 system is a group of connected components working together to achieve a goal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8"/>
            <p:cNvSpPr/>
            <p:nvPr/>
          </p:nvSpPr>
          <p:spPr>
            <a:xfrm>
              <a:off x="0" y="1523937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8"/>
            <p:cNvSpPr/>
            <p:nvPr/>
          </p:nvSpPr>
          <p:spPr>
            <a:xfrm>
              <a:off x="368211" y="1797813"/>
              <a:ext cx="669475" cy="66947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8"/>
            <p:cNvSpPr/>
            <p:nvPr/>
          </p:nvSpPr>
          <p:spPr>
            <a:xfrm>
              <a:off x="1405898" y="152393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8"/>
            <p:cNvSpPr txBox="1"/>
            <p:nvPr/>
          </p:nvSpPr>
          <p:spPr>
            <a:xfrm>
              <a:off x="1405898" y="152393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Examples of systems include biological systems (respiratory system) and natural systems (solar system)</a:t>
              </a:r>
              <a:endParaRPr/>
            </a:p>
          </p:txBody>
        </p:sp>
        <p:sp>
          <p:nvSpPr>
            <p:cNvPr id="150" name="Google Shape;150;p18"/>
            <p:cNvSpPr/>
            <p:nvPr/>
          </p:nvSpPr>
          <p:spPr>
            <a:xfrm>
              <a:off x="0" y="3045472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8"/>
            <p:cNvSpPr/>
            <p:nvPr/>
          </p:nvSpPr>
          <p:spPr>
            <a:xfrm>
              <a:off x="368211" y="3319348"/>
              <a:ext cx="669475" cy="66947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8"/>
            <p:cNvSpPr/>
            <p:nvPr/>
          </p:nvSpPr>
          <p:spPr>
            <a:xfrm>
              <a:off x="1405898" y="3045472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8"/>
            <p:cNvSpPr txBox="1"/>
            <p:nvPr/>
          </p:nvSpPr>
          <p:spPr>
            <a:xfrm>
              <a:off x="1405898" y="3045472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 </a:t>
              </a:r>
              <a:r>
                <a:rPr b="1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digital system</a:t>
              </a: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combines hardware and software to perform tasks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8"/>
            <p:cNvSpPr/>
            <p:nvPr/>
          </p:nvSpPr>
          <p:spPr>
            <a:xfrm>
              <a:off x="0" y="4567007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8"/>
            <p:cNvSpPr/>
            <p:nvPr/>
          </p:nvSpPr>
          <p:spPr>
            <a:xfrm>
              <a:off x="368211" y="4840884"/>
              <a:ext cx="669475" cy="669475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8"/>
            <p:cNvSpPr/>
            <p:nvPr/>
          </p:nvSpPr>
          <p:spPr>
            <a:xfrm>
              <a:off x="1405898" y="456700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8"/>
            <p:cNvSpPr txBox="1"/>
            <p:nvPr/>
          </p:nvSpPr>
          <p:spPr>
            <a:xfrm>
              <a:off x="1405898" y="456700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When a digital system also includes </a:t>
              </a:r>
              <a:r>
                <a:rPr b="1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data, people and processes</a:t>
              </a: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, it becomes an </a:t>
              </a:r>
              <a:r>
                <a:rPr b="1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information system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9"/>
          <p:cNvSpPr txBox="1"/>
          <p:nvPr>
            <p:ph type="title"/>
          </p:nvPr>
        </p:nvSpPr>
        <p:spPr>
          <a:xfrm>
            <a:off x="612649" y="548638"/>
            <a:ext cx="3493008" cy="5788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/>
              <a:t>Digital Systems</a:t>
            </a:r>
            <a:endParaRPr/>
          </a:p>
        </p:txBody>
      </p:sp>
      <p:grpSp>
        <p:nvGrpSpPr>
          <p:cNvPr id="164" name="Google Shape;164;p19"/>
          <p:cNvGrpSpPr/>
          <p:nvPr/>
        </p:nvGrpSpPr>
        <p:grpSpPr>
          <a:xfrm>
            <a:off x="4608246" y="727558"/>
            <a:ext cx="6949440" cy="5428801"/>
            <a:chOff x="0" y="178918"/>
            <a:chExt cx="6949440" cy="5428801"/>
          </a:xfrm>
        </p:grpSpPr>
        <p:sp>
          <p:nvSpPr>
            <p:cNvPr id="165" name="Google Shape;165;p19"/>
            <p:cNvSpPr/>
            <p:nvPr/>
          </p:nvSpPr>
          <p:spPr>
            <a:xfrm>
              <a:off x="0" y="178918"/>
              <a:ext cx="6949440" cy="121680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9"/>
            <p:cNvSpPr txBox="1"/>
            <p:nvPr/>
          </p:nvSpPr>
          <p:spPr>
            <a:xfrm>
              <a:off x="59399" y="238317"/>
              <a:ext cx="6830642" cy="10980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Consist of hardware, software and often networks</a:t>
              </a:r>
              <a:endPara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9"/>
            <p:cNvSpPr/>
            <p:nvPr/>
          </p:nvSpPr>
          <p:spPr>
            <a:xfrm>
              <a:off x="0" y="1582918"/>
              <a:ext cx="6949440" cy="1216800"/>
            </a:xfrm>
            <a:prstGeom prst="roundRect">
              <a:avLst>
                <a:gd fmla="val 16667" name="adj"/>
              </a:avLst>
            </a:prstGeom>
            <a:solidFill>
              <a:srgbClr val="F2823E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9"/>
            <p:cNvSpPr txBox="1"/>
            <p:nvPr/>
          </p:nvSpPr>
          <p:spPr>
            <a:xfrm>
              <a:off x="59399" y="1642317"/>
              <a:ext cx="6830642" cy="10980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Can operate across large distances using the internet</a:t>
              </a:r>
              <a:endPara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9"/>
            <p:cNvSpPr/>
            <p:nvPr/>
          </p:nvSpPr>
          <p:spPr>
            <a:xfrm>
              <a:off x="0" y="2986919"/>
              <a:ext cx="6949440" cy="1216800"/>
            </a:xfrm>
            <a:prstGeom prst="roundRect">
              <a:avLst>
                <a:gd fmla="val 16667" name="adj"/>
              </a:avLst>
            </a:prstGeom>
            <a:solidFill>
              <a:srgbClr val="EA6E3C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9"/>
            <p:cNvSpPr txBox="1"/>
            <p:nvPr/>
          </p:nvSpPr>
          <p:spPr>
            <a:xfrm>
              <a:off x="59399" y="3046318"/>
              <a:ext cx="6830642" cy="10980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Enable activities such as video calls, online banking and smart home control</a:t>
              </a:r>
              <a:endPara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9"/>
            <p:cNvSpPr/>
            <p:nvPr/>
          </p:nvSpPr>
          <p:spPr>
            <a:xfrm>
              <a:off x="0" y="4390919"/>
              <a:ext cx="6949440" cy="1216800"/>
            </a:xfrm>
            <a:prstGeom prst="roundRect">
              <a:avLst>
                <a:gd fmla="val 16667" name="adj"/>
              </a:avLst>
            </a:prstGeom>
            <a:solidFill>
              <a:srgbClr val="E15B3C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9"/>
            <p:cNvSpPr txBox="1"/>
            <p:nvPr/>
          </p:nvSpPr>
          <p:spPr>
            <a:xfrm>
              <a:off x="59399" y="4450318"/>
              <a:ext cx="6830642" cy="10980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Form the technical foundation of information systems</a:t>
              </a:r>
              <a:endPara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0"/>
          <p:cNvSpPr txBox="1"/>
          <p:nvPr>
            <p:ph type="title"/>
          </p:nvPr>
        </p:nvSpPr>
        <p:spPr>
          <a:xfrm>
            <a:off x="612649" y="548638"/>
            <a:ext cx="3493008" cy="5788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/>
              <a:t>Purpose of an Information System</a:t>
            </a:r>
            <a:endParaRPr sz="4000"/>
          </a:p>
        </p:txBody>
      </p:sp>
      <p:grpSp>
        <p:nvGrpSpPr>
          <p:cNvPr id="179" name="Google Shape;179;p20"/>
          <p:cNvGrpSpPr/>
          <p:nvPr/>
        </p:nvGrpSpPr>
        <p:grpSpPr>
          <a:xfrm>
            <a:off x="4608246" y="551041"/>
            <a:ext cx="6949440" cy="5781834"/>
            <a:chOff x="0" y="2401"/>
            <a:chExt cx="6949440" cy="5781834"/>
          </a:xfrm>
        </p:grpSpPr>
        <p:sp>
          <p:nvSpPr>
            <p:cNvPr id="180" name="Google Shape;180;p20"/>
            <p:cNvSpPr/>
            <p:nvPr/>
          </p:nvSpPr>
          <p:spPr>
            <a:xfrm>
              <a:off x="0" y="2401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0"/>
            <p:cNvSpPr/>
            <p:nvPr/>
          </p:nvSpPr>
          <p:spPr>
            <a:xfrm>
              <a:off x="368211" y="276278"/>
              <a:ext cx="669475" cy="669475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0"/>
            <p:cNvSpPr/>
            <p:nvPr/>
          </p:nvSpPr>
          <p:spPr>
            <a:xfrm>
              <a:off x="1405898" y="2401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0"/>
            <p:cNvSpPr txBox="1"/>
            <p:nvPr/>
          </p:nvSpPr>
          <p:spPr>
            <a:xfrm>
              <a:off x="1405898" y="2401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To collect, process and transform data into useful information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0"/>
            <p:cNvSpPr/>
            <p:nvPr/>
          </p:nvSpPr>
          <p:spPr>
            <a:xfrm>
              <a:off x="0" y="1523937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0"/>
            <p:cNvSpPr/>
            <p:nvPr/>
          </p:nvSpPr>
          <p:spPr>
            <a:xfrm>
              <a:off x="368211" y="1797813"/>
              <a:ext cx="669475" cy="66947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0"/>
            <p:cNvSpPr/>
            <p:nvPr/>
          </p:nvSpPr>
          <p:spPr>
            <a:xfrm>
              <a:off x="1405898" y="152393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0"/>
            <p:cNvSpPr txBox="1"/>
            <p:nvPr/>
          </p:nvSpPr>
          <p:spPr>
            <a:xfrm>
              <a:off x="1405898" y="152393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Used to solve problems or meet identified needs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0"/>
            <p:cNvSpPr/>
            <p:nvPr/>
          </p:nvSpPr>
          <p:spPr>
            <a:xfrm>
              <a:off x="0" y="3045472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0"/>
            <p:cNvSpPr/>
            <p:nvPr/>
          </p:nvSpPr>
          <p:spPr>
            <a:xfrm>
              <a:off x="368211" y="3319348"/>
              <a:ext cx="669475" cy="66947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0"/>
            <p:cNvSpPr/>
            <p:nvPr/>
          </p:nvSpPr>
          <p:spPr>
            <a:xfrm>
              <a:off x="1405898" y="3045472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0"/>
            <p:cNvSpPr txBox="1"/>
            <p:nvPr/>
          </p:nvSpPr>
          <p:spPr>
            <a:xfrm>
              <a:off x="1405898" y="3045472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Supports decision-making, automation and efficiency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0"/>
            <p:cNvSpPr/>
            <p:nvPr/>
          </p:nvSpPr>
          <p:spPr>
            <a:xfrm>
              <a:off x="0" y="4567007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0"/>
            <p:cNvSpPr/>
            <p:nvPr/>
          </p:nvSpPr>
          <p:spPr>
            <a:xfrm>
              <a:off x="368211" y="4840884"/>
              <a:ext cx="669475" cy="669475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0"/>
            <p:cNvSpPr/>
            <p:nvPr/>
          </p:nvSpPr>
          <p:spPr>
            <a:xfrm>
              <a:off x="1405898" y="456700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0"/>
            <p:cNvSpPr txBox="1"/>
            <p:nvPr/>
          </p:nvSpPr>
          <p:spPr>
            <a:xfrm>
              <a:off x="1405898" y="456700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Commonly used in organisations and enterprises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1"/>
          <p:cNvSpPr txBox="1"/>
          <p:nvPr>
            <p:ph type="title"/>
          </p:nvPr>
        </p:nvSpPr>
        <p:spPr>
          <a:xfrm>
            <a:off x="1514856" y="548640"/>
            <a:ext cx="916228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Components of an Information System</a:t>
            </a:r>
            <a:endParaRPr/>
          </a:p>
        </p:txBody>
      </p:sp>
      <p:grpSp>
        <p:nvGrpSpPr>
          <p:cNvPr id="202" name="Google Shape;202;p21"/>
          <p:cNvGrpSpPr/>
          <p:nvPr/>
        </p:nvGrpSpPr>
        <p:grpSpPr>
          <a:xfrm>
            <a:off x="3821580" y="2039832"/>
            <a:ext cx="4548836" cy="4067639"/>
            <a:chOff x="2306725" y="720"/>
            <a:chExt cx="4548836" cy="4067639"/>
          </a:xfrm>
        </p:grpSpPr>
        <p:sp>
          <p:nvSpPr>
            <p:cNvPr id="203" name="Google Shape;203;p21"/>
            <p:cNvSpPr/>
            <p:nvPr/>
          </p:nvSpPr>
          <p:spPr>
            <a:xfrm>
              <a:off x="5093422" y="9019"/>
              <a:ext cx="833240" cy="833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1"/>
            <p:cNvSpPr txBox="1"/>
            <p:nvPr/>
          </p:nvSpPr>
          <p:spPr>
            <a:xfrm>
              <a:off x="5093422" y="9019"/>
              <a:ext cx="833240" cy="833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15225" spcFirstLastPara="1" rIns="1522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Hardware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1"/>
            <p:cNvSpPr/>
            <p:nvPr/>
          </p:nvSpPr>
          <p:spPr>
            <a:xfrm>
              <a:off x="2547324" y="720"/>
              <a:ext cx="4067639" cy="4067639"/>
            </a:xfrm>
            <a:custGeom>
              <a:rect b="b" l="l" r="r" t="t"/>
              <a:pathLst>
                <a:path extrusionOk="0" h="120000" w="120000">
                  <a:moveTo>
                    <a:pt x="101141" y="20832"/>
                  </a:moveTo>
                  <a:cubicBezTo>
                    <a:pt x="107237" y="27235"/>
                    <a:pt x="111755" y="34973"/>
                    <a:pt x="114334" y="43431"/>
                  </a:cubicBezTo>
                  <a:lnTo>
                    <a:pt x="117442" y="42715"/>
                  </a:lnTo>
                  <a:lnTo>
                    <a:pt x="113022" y="47799"/>
                  </a:lnTo>
                  <a:lnTo>
                    <a:pt x="106543" y="45223"/>
                  </a:lnTo>
                  <a:lnTo>
                    <a:pt x="109651" y="44508"/>
                  </a:lnTo>
                  <a:cubicBezTo>
                    <a:pt x="107273" y="36888"/>
                    <a:pt x="103174" y="29918"/>
                    <a:pt x="97670" y="24136"/>
                  </a:cubicBezTo>
                  <a:close/>
                </a:path>
              </a:pathLst>
            </a:custGeom>
            <a:solidFill>
              <a:srgbClr val="3A907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1"/>
            <p:cNvSpPr/>
            <p:nvPr/>
          </p:nvSpPr>
          <p:spPr>
            <a:xfrm>
              <a:off x="6022321" y="1617919"/>
              <a:ext cx="833240" cy="833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1"/>
            <p:cNvSpPr txBox="1"/>
            <p:nvPr/>
          </p:nvSpPr>
          <p:spPr>
            <a:xfrm>
              <a:off x="6022321" y="1617919"/>
              <a:ext cx="833240" cy="833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15225" spcFirstLastPara="1" rIns="1522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Software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1"/>
            <p:cNvSpPr/>
            <p:nvPr/>
          </p:nvSpPr>
          <p:spPr>
            <a:xfrm>
              <a:off x="2547324" y="720"/>
              <a:ext cx="4067639" cy="4067639"/>
            </a:xfrm>
            <a:custGeom>
              <a:rect b="b" l="l" r="r" t="t"/>
              <a:pathLst>
                <a:path extrusionOk="0" h="120000" w="120000">
                  <a:moveTo>
                    <a:pt x="115358" y="72739"/>
                  </a:moveTo>
                  <a:cubicBezTo>
                    <a:pt x="113375" y="81355"/>
                    <a:pt x="109408" y="89390"/>
                    <a:pt x="103773" y="96203"/>
                  </a:cubicBezTo>
                  <a:lnTo>
                    <a:pt x="106083" y="98402"/>
                  </a:lnTo>
                  <a:lnTo>
                    <a:pt x="99405" y="97516"/>
                  </a:lnTo>
                  <a:lnTo>
                    <a:pt x="97983" y="90691"/>
                  </a:lnTo>
                  <a:lnTo>
                    <a:pt x="100293" y="92889"/>
                  </a:lnTo>
                  <a:cubicBezTo>
                    <a:pt x="105340" y="86706"/>
                    <a:pt x="108897" y="79443"/>
                    <a:pt x="110687" y="71664"/>
                  </a:cubicBezTo>
                  <a:close/>
                </a:path>
              </a:pathLst>
            </a:custGeom>
            <a:solidFill>
              <a:srgbClr val="3A907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1"/>
            <p:cNvSpPr/>
            <p:nvPr/>
          </p:nvSpPr>
          <p:spPr>
            <a:xfrm>
              <a:off x="5093422" y="3226819"/>
              <a:ext cx="833240" cy="833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1"/>
            <p:cNvSpPr txBox="1"/>
            <p:nvPr/>
          </p:nvSpPr>
          <p:spPr>
            <a:xfrm>
              <a:off x="5093422" y="3226819"/>
              <a:ext cx="833240" cy="833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15225" spcFirstLastPara="1" rIns="1522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Networks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1"/>
            <p:cNvSpPr/>
            <p:nvPr/>
          </p:nvSpPr>
          <p:spPr>
            <a:xfrm>
              <a:off x="2547324" y="720"/>
              <a:ext cx="4067639" cy="4067639"/>
            </a:xfrm>
            <a:custGeom>
              <a:rect b="b" l="l" r="r" t="t"/>
              <a:pathLst>
                <a:path extrusionOk="0" h="120000" w="120000">
                  <a:moveTo>
                    <a:pt x="75664" y="114602"/>
                  </a:moveTo>
                  <a:cubicBezTo>
                    <a:pt x="66720" y="117168"/>
                    <a:pt x="57284" y="117497"/>
                    <a:pt x="48184" y="115562"/>
                  </a:cubicBezTo>
                  <a:lnTo>
                    <a:pt x="47304" y="118628"/>
                  </a:lnTo>
                  <a:lnTo>
                    <a:pt x="44997" y="112299"/>
                  </a:lnTo>
                  <a:lnTo>
                    <a:pt x="50388" y="107877"/>
                  </a:lnTo>
                  <a:lnTo>
                    <a:pt x="49509" y="110943"/>
                  </a:lnTo>
                  <a:cubicBezTo>
                    <a:pt x="57742" y="112638"/>
                    <a:pt x="66262" y="112313"/>
                    <a:pt x="74342" y="109995"/>
                  </a:cubicBezTo>
                  <a:close/>
                </a:path>
              </a:pathLst>
            </a:custGeom>
            <a:solidFill>
              <a:srgbClr val="3A907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1"/>
            <p:cNvSpPr/>
            <p:nvPr/>
          </p:nvSpPr>
          <p:spPr>
            <a:xfrm>
              <a:off x="3235624" y="3226819"/>
              <a:ext cx="833240" cy="833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1"/>
            <p:cNvSpPr txBox="1"/>
            <p:nvPr/>
          </p:nvSpPr>
          <p:spPr>
            <a:xfrm>
              <a:off x="3235624" y="3226819"/>
              <a:ext cx="833240" cy="833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15225" spcFirstLastPara="1" rIns="1522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1"/>
            <p:cNvSpPr/>
            <p:nvPr/>
          </p:nvSpPr>
          <p:spPr>
            <a:xfrm>
              <a:off x="2547324" y="720"/>
              <a:ext cx="4067639" cy="4067639"/>
            </a:xfrm>
            <a:custGeom>
              <a:rect b="b" l="l" r="r" t="t"/>
              <a:pathLst>
                <a:path extrusionOk="0" h="120000" w="120000">
                  <a:moveTo>
                    <a:pt x="18859" y="99168"/>
                  </a:moveTo>
                  <a:cubicBezTo>
                    <a:pt x="12763" y="92765"/>
                    <a:pt x="8245" y="85027"/>
                    <a:pt x="5666" y="76569"/>
                  </a:cubicBezTo>
                  <a:lnTo>
                    <a:pt x="2558" y="77285"/>
                  </a:lnTo>
                  <a:lnTo>
                    <a:pt x="6978" y="72201"/>
                  </a:lnTo>
                  <a:lnTo>
                    <a:pt x="13457" y="74777"/>
                  </a:lnTo>
                  <a:lnTo>
                    <a:pt x="10349" y="75492"/>
                  </a:lnTo>
                  <a:cubicBezTo>
                    <a:pt x="12727" y="83112"/>
                    <a:pt x="16826" y="90082"/>
                    <a:pt x="22330" y="95864"/>
                  </a:cubicBezTo>
                  <a:close/>
                </a:path>
              </a:pathLst>
            </a:custGeom>
            <a:solidFill>
              <a:srgbClr val="3A907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1"/>
            <p:cNvSpPr/>
            <p:nvPr/>
          </p:nvSpPr>
          <p:spPr>
            <a:xfrm>
              <a:off x="2306725" y="1617919"/>
              <a:ext cx="833240" cy="833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1"/>
            <p:cNvSpPr txBox="1"/>
            <p:nvPr/>
          </p:nvSpPr>
          <p:spPr>
            <a:xfrm>
              <a:off x="2306725" y="1617919"/>
              <a:ext cx="833240" cy="833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15225" spcFirstLastPara="1" rIns="1522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People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1"/>
            <p:cNvSpPr/>
            <p:nvPr/>
          </p:nvSpPr>
          <p:spPr>
            <a:xfrm>
              <a:off x="2547324" y="720"/>
              <a:ext cx="4067639" cy="4067639"/>
            </a:xfrm>
            <a:custGeom>
              <a:rect b="b" l="l" r="r" t="t"/>
              <a:pathLst>
                <a:path extrusionOk="0" h="120000" w="120000">
                  <a:moveTo>
                    <a:pt x="4642" y="47261"/>
                  </a:moveTo>
                  <a:cubicBezTo>
                    <a:pt x="6625" y="38645"/>
                    <a:pt x="10592" y="30610"/>
                    <a:pt x="16227" y="23797"/>
                  </a:cubicBezTo>
                  <a:lnTo>
                    <a:pt x="13917" y="21598"/>
                  </a:lnTo>
                  <a:lnTo>
                    <a:pt x="20595" y="22484"/>
                  </a:lnTo>
                  <a:lnTo>
                    <a:pt x="22017" y="29309"/>
                  </a:lnTo>
                  <a:lnTo>
                    <a:pt x="19707" y="27111"/>
                  </a:lnTo>
                  <a:cubicBezTo>
                    <a:pt x="14660" y="33294"/>
                    <a:pt x="11103" y="40557"/>
                    <a:pt x="9313" y="48336"/>
                  </a:cubicBezTo>
                  <a:close/>
                </a:path>
              </a:pathLst>
            </a:custGeom>
            <a:solidFill>
              <a:srgbClr val="3A907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1"/>
            <p:cNvSpPr/>
            <p:nvPr/>
          </p:nvSpPr>
          <p:spPr>
            <a:xfrm>
              <a:off x="3235624" y="9019"/>
              <a:ext cx="833240" cy="833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1"/>
            <p:cNvSpPr txBox="1"/>
            <p:nvPr/>
          </p:nvSpPr>
          <p:spPr>
            <a:xfrm>
              <a:off x="3235624" y="9019"/>
              <a:ext cx="833240" cy="833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15225" spcFirstLastPara="1" rIns="1522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Processes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1"/>
            <p:cNvSpPr/>
            <p:nvPr/>
          </p:nvSpPr>
          <p:spPr>
            <a:xfrm>
              <a:off x="2547324" y="720"/>
              <a:ext cx="4067639" cy="4067639"/>
            </a:xfrm>
            <a:custGeom>
              <a:rect b="b" l="l" r="r" t="t"/>
              <a:pathLst>
                <a:path extrusionOk="0" h="120000" w="120000">
                  <a:moveTo>
                    <a:pt x="44336" y="5398"/>
                  </a:moveTo>
                  <a:cubicBezTo>
                    <a:pt x="53280" y="2832"/>
                    <a:pt x="62716" y="2503"/>
                    <a:pt x="71816" y="4438"/>
                  </a:cubicBezTo>
                  <a:lnTo>
                    <a:pt x="72696" y="1372"/>
                  </a:lnTo>
                  <a:lnTo>
                    <a:pt x="75003" y="7701"/>
                  </a:lnTo>
                  <a:lnTo>
                    <a:pt x="69612" y="12123"/>
                  </a:lnTo>
                  <a:lnTo>
                    <a:pt x="70491" y="9057"/>
                  </a:lnTo>
                  <a:cubicBezTo>
                    <a:pt x="62258" y="7362"/>
                    <a:pt x="53738" y="7687"/>
                    <a:pt x="45658" y="10005"/>
                  </a:cubicBezTo>
                  <a:close/>
                </a:path>
              </a:pathLst>
            </a:custGeom>
            <a:solidFill>
              <a:srgbClr val="3A907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1" name="Google Shape;221;p21"/>
          <p:cNvSpPr txBox="1"/>
          <p:nvPr/>
        </p:nvSpPr>
        <p:spPr>
          <a:xfrm>
            <a:off x="5139349" y="3334988"/>
            <a:ext cx="19133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components must work together for the system to be effective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2"/>
          <p:cNvSpPr txBox="1"/>
          <p:nvPr>
            <p:ph type="title"/>
          </p:nvPr>
        </p:nvSpPr>
        <p:spPr>
          <a:xfrm>
            <a:off x="612649" y="548638"/>
            <a:ext cx="3493008" cy="5788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/>
              <a:t>Hardware</a:t>
            </a:r>
            <a:endParaRPr/>
          </a:p>
        </p:txBody>
      </p:sp>
      <p:grpSp>
        <p:nvGrpSpPr>
          <p:cNvPr id="228" name="Google Shape;228;p22"/>
          <p:cNvGrpSpPr/>
          <p:nvPr/>
        </p:nvGrpSpPr>
        <p:grpSpPr>
          <a:xfrm>
            <a:off x="4608246" y="551041"/>
            <a:ext cx="6949440" cy="5781834"/>
            <a:chOff x="0" y="2401"/>
            <a:chExt cx="6949440" cy="5781834"/>
          </a:xfrm>
        </p:grpSpPr>
        <p:sp>
          <p:nvSpPr>
            <p:cNvPr id="229" name="Google Shape;229;p22"/>
            <p:cNvSpPr/>
            <p:nvPr/>
          </p:nvSpPr>
          <p:spPr>
            <a:xfrm>
              <a:off x="0" y="2401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2"/>
            <p:cNvSpPr/>
            <p:nvPr/>
          </p:nvSpPr>
          <p:spPr>
            <a:xfrm>
              <a:off x="368211" y="276278"/>
              <a:ext cx="669475" cy="669475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2"/>
            <p:cNvSpPr/>
            <p:nvPr/>
          </p:nvSpPr>
          <p:spPr>
            <a:xfrm>
              <a:off x="1405898" y="2401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2"/>
            <p:cNvSpPr txBox="1"/>
            <p:nvPr/>
          </p:nvSpPr>
          <p:spPr>
            <a:xfrm>
              <a:off x="1405898" y="2401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1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DEFINITION: Physical components of an information system</a:t>
              </a:r>
              <a:endPara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2"/>
            <p:cNvSpPr/>
            <p:nvPr/>
          </p:nvSpPr>
          <p:spPr>
            <a:xfrm>
              <a:off x="0" y="1523937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2"/>
            <p:cNvSpPr/>
            <p:nvPr/>
          </p:nvSpPr>
          <p:spPr>
            <a:xfrm>
              <a:off x="368211" y="1797813"/>
              <a:ext cx="669475" cy="66947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2"/>
            <p:cNvSpPr/>
            <p:nvPr/>
          </p:nvSpPr>
          <p:spPr>
            <a:xfrm>
              <a:off x="1405898" y="152393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2"/>
            <p:cNvSpPr txBox="1"/>
            <p:nvPr/>
          </p:nvSpPr>
          <p:spPr>
            <a:xfrm>
              <a:off x="1405898" y="152393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Includes computers, servers and mobile devices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2"/>
            <p:cNvSpPr/>
            <p:nvPr/>
          </p:nvSpPr>
          <p:spPr>
            <a:xfrm>
              <a:off x="0" y="3045472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2"/>
            <p:cNvSpPr/>
            <p:nvPr/>
          </p:nvSpPr>
          <p:spPr>
            <a:xfrm>
              <a:off x="368211" y="3319348"/>
              <a:ext cx="669475" cy="66947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2"/>
            <p:cNvSpPr/>
            <p:nvPr/>
          </p:nvSpPr>
          <p:spPr>
            <a:xfrm>
              <a:off x="1405898" y="3045472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2"/>
            <p:cNvSpPr txBox="1"/>
            <p:nvPr/>
          </p:nvSpPr>
          <p:spPr>
            <a:xfrm>
              <a:off x="1405898" y="3045472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Uses input and output devices such as keyboards, cameras, printers and scanners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2"/>
            <p:cNvSpPr/>
            <p:nvPr/>
          </p:nvSpPr>
          <p:spPr>
            <a:xfrm>
              <a:off x="0" y="4567007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2"/>
            <p:cNvSpPr/>
            <p:nvPr/>
          </p:nvSpPr>
          <p:spPr>
            <a:xfrm>
              <a:off x="368211" y="4840884"/>
              <a:ext cx="669475" cy="669475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2"/>
            <p:cNvSpPr/>
            <p:nvPr/>
          </p:nvSpPr>
          <p:spPr>
            <a:xfrm>
              <a:off x="1405898" y="456700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2"/>
            <p:cNvSpPr txBox="1"/>
            <p:nvPr/>
          </p:nvSpPr>
          <p:spPr>
            <a:xfrm>
              <a:off x="1405898" y="456700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Requires networking hardware like routers, cables and access points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Quill with solid fill" id="245" name="Google Shape;245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957422" y="548638"/>
            <a:ext cx="1243858" cy="1243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3"/>
          <p:cNvSpPr txBox="1"/>
          <p:nvPr>
            <p:ph type="title"/>
          </p:nvPr>
        </p:nvSpPr>
        <p:spPr>
          <a:xfrm>
            <a:off x="612649" y="548638"/>
            <a:ext cx="3493008" cy="5788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/>
              <a:t>Software</a:t>
            </a:r>
            <a:endParaRPr sz="4000"/>
          </a:p>
        </p:txBody>
      </p:sp>
      <p:grpSp>
        <p:nvGrpSpPr>
          <p:cNvPr id="252" name="Google Shape;252;p23"/>
          <p:cNvGrpSpPr/>
          <p:nvPr/>
        </p:nvGrpSpPr>
        <p:grpSpPr>
          <a:xfrm>
            <a:off x="4608246" y="551041"/>
            <a:ext cx="6949440" cy="5781834"/>
            <a:chOff x="0" y="2401"/>
            <a:chExt cx="6949440" cy="5781834"/>
          </a:xfrm>
        </p:grpSpPr>
        <p:sp>
          <p:nvSpPr>
            <p:cNvPr id="253" name="Google Shape;253;p23"/>
            <p:cNvSpPr/>
            <p:nvPr/>
          </p:nvSpPr>
          <p:spPr>
            <a:xfrm>
              <a:off x="0" y="2401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3"/>
            <p:cNvSpPr/>
            <p:nvPr/>
          </p:nvSpPr>
          <p:spPr>
            <a:xfrm>
              <a:off x="368211" y="276278"/>
              <a:ext cx="669475" cy="669475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3"/>
            <p:cNvSpPr/>
            <p:nvPr/>
          </p:nvSpPr>
          <p:spPr>
            <a:xfrm>
              <a:off x="1405898" y="2401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3"/>
            <p:cNvSpPr txBox="1"/>
            <p:nvPr/>
          </p:nvSpPr>
          <p:spPr>
            <a:xfrm>
              <a:off x="1405898" y="2401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 that tell hardware how to process data</a:t>
              </a:r>
              <a:endPara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23"/>
            <p:cNvSpPr/>
            <p:nvPr/>
          </p:nvSpPr>
          <p:spPr>
            <a:xfrm>
              <a:off x="0" y="1523937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3"/>
            <p:cNvSpPr/>
            <p:nvPr/>
          </p:nvSpPr>
          <p:spPr>
            <a:xfrm>
              <a:off x="368211" y="1797813"/>
              <a:ext cx="669475" cy="66947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3"/>
            <p:cNvSpPr/>
            <p:nvPr/>
          </p:nvSpPr>
          <p:spPr>
            <a:xfrm>
              <a:off x="1405898" y="152393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3"/>
            <p:cNvSpPr txBox="1"/>
            <p:nvPr/>
          </p:nvSpPr>
          <p:spPr>
            <a:xfrm>
              <a:off x="1405898" y="152393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Written in programming languages and converted to machine code</a:t>
              </a:r>
              <a:endPara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23"/>
            <p:cNvSpPr/>
            <p:nvPr/>
          </p:nvSpPr>
          <p:spPr>
            <a:xfrm>
              <a:off x="0" y="3045472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3"/>
            <p:cNvSpPr/>
            <p:nvPr/>
          </p:nvSpPr>
          <p:spPr>
            <a:xfrm>
              <a:off x="368211" y="3319348"/>
              <a:ext cx="669475" cy="66947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3"/>
            <p:cNvSpPr/>
            <p:nvPr/>
          </p:nvSpPr>
          <p:spPr>
            <a:xfrm>
              <a:off x="1405898" y="3045472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3"/>
            <p:cNvSpPr txBox="1"/>
            <p:nvPr/>
          </p:nvSpPr>
          <p:spPr>
            <a:xfrm>
              <a:off x="1405898" y="3045472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Includes application software (e.g. browsers, apps, databases) and system software (operating systems and utilities)</a:t>
              </a:r>
              <a:endPara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23"/>
            <p:cNvSpPr/>
            <p:nvPr/>
          </p:nvSpPr>
          <p:spPr>
            <a:xfrm>
              <a:off x="0" y="4567007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3"/>
            <p:cNvSpPr/>
            <p:nvPr/>
          </p:nvSpPr>
          <p:spPr>
            <a:xfrm>
              <a:off x="368211" y="4840884"/>
              <a:ext cx="669475" cy="669475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3"/>
            <p:cNvSpPr/>
            <p:nvPr/>
          </p:nvSpPr>
          <p:spPr>
            <a:xfrm>
              <a:off x="1405898" y="456700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3"/>
            <p:cNvSpPr txBox="1"/>
            <p:nvPr/>
          </p:nvSpPr>
          <p:spPr>
            <a:xfrm>
              <a:off x="1405898" y="456700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Enables data processing, storage and user interaction</a:t>
              </a:r>
              <a:endPara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Quill with solid fill" id="269" name="Google Shape;26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957422" y="548638"/>
            <a:ext cx="1243858" cy="1243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4"/>
          <p:cNvSpPr txBox="1"/>
          <p:nvPr>
            <p:ph type="title"/>
          </p:nvPr>
        </p:nvSpPr>
        <p:spPr>
          <a:xfrm>
            <a:off x="612649" y="548638"/>
            <a:ext cx="3493008" cy="5788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/>
              <a:t>Networks</a:t>
            </a:r>
            <a:endParaRPr/>
          </a:p>
        </p:txBody>
      </p:sp>
      <p:grpSp>
        <p:nvGrpSpPr>
          <p:cNvPr id="276" name="Google Shape;276;p24"/>
          <p:cNvGrpSpPr/>
          <p:nvPr/>
        </p:nvGrpSpPr>
        <p:grpSpPr>
          <a:xfrm>
            <a:off x="4608246" y="551041"/>
            <a:ext cx="6949440" cy="5781834"/>
            <a:chOff x="0" y="2401"/>
            <a:chExt cx="6949440" cy="5781834"/>
          </a:xfrm>
        </p:grpSpPr>
        <p:sp>
          <p:nvSpPr>
            <p:cNvPr id="277" name="Google Shape;277;p24"/>
            <p:cNvSpPr/>
            <p:nvPr/>
          </p:nvSpPr>
          <p:spPr>
            <a:xfrm>
              <a:off x="0" y="2401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4"/>
            <p:cNvSpPr/>
            <p:nvPr/>
          </p:nvSpPr>
          <p:spPr>
            <a:xfrm>
              <a:off x="368211" y="276278"/>
              <a:ext cx="669475" cy="669475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4"/>
            <p:cNvSpPr/>
            <p:nvPr/>
          </p:nvSpPr>
          <p:spPr>
            <a:xfrm>
              <a:off x="1405898" y="2401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4"/>
            <p:cNvSpPr txBox="1"/>
            <p:nvPr/>
          </p:nvSpPr>
          <p:spPr>
            <a:xfrm>
              <a:off x="1405898" y="2401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Connect two or more computers to share data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4"/>
            <p:cNvSpPr/>
            <p:nvPr/>
          </p:nvSpPr>
          <p:spPr>
            <a:xfrm>
              <a:off x="0" y="1523937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4"/>
            <p:cNvSpPr/>
            <p:nvPr/>
          </p:nvSpPr>
          <p:spPr>
            <a:xfrm>
              <a:off x="368211" y="1797813"/>
              <a:ext cx="669475" cy="66947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4"/>
            <p:cNvSpPr/>
            <p:nvPr/>
          </p:nvSpPr>
          <p:spPr>
            <a:xfrm>
              <a:off x="1405898" y="152393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4"/>
            <p:cNvSpPr txBox="1"/>
            <p:nvPr/>
          </p:nvSpPr>
          <p:spPr>
            <a:xfrm>
              <a:off x="1405898" y="152393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Can use wired connections (ethernet, fibre) or wireless connections (Wi-Fi, Bluetooth)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4"/>
            <p:cNvSpPr/>
            <p:nvPr/>
          </p:nvSpPr>
          <p:spPr>
            <a:xfrm>
              <a:off x="0" y="3045472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4"/>
            <p:cNvSpPr/>
            <p:nvPr/>
          </p:nvSpPr>
          <p:spPr>
            <a:xfrm>
              <a:off x="368211" y="3319348"/>
              <a:ext cx="669475" cy="66947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4"/>
            <p:cNvSpPr/>
            <p:nvPr/>
          </p:nvSpPr>
          <p:spPr>
            <a:xfrm>
              <a:off x="1405898" y="3045472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4"/>
            <p:cNvSpPr txBox="1"/>
            <p:nvPr/>
          </p:nvSpPr>
          <p:spPr>
            <a:xfrm>
              <a:off x="1405898" y="3045472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The internet is the largest global network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24"/>
            <p:cNvSpPr/>
            <p:nvPr/>
          </p:nvSpPr>
          <p:spPr>
            <a:xfrm>
              <a:off x="0" y="4567007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4"/>
            <p:cNvSpPr/>
            <p:nvPr/>
          </p:nvSpPr>
          <p:spPr>
            <a:xfrm>
              <a:off x="368211" y="4840884"/>
              <a:ext cx="669475" cy="669475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4"/>
            <p:cNvSpPr/>
            <p:nvPr/>
          </p:nvSpPr>
          <p:spPr>
            <a:xfrm>
              <a:off x="1405898" y="456700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4"/>
            <p:cNvSpPr txBox="1"/>
            <p:nvPr/>
          </p:nvSpPr>
          <p:spPr>
            <a:xfrm>
              <a:off x="1405898" y="456700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Enables real-time communication and remote access to systems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Quill with solid fill" id="293" name="Google Shape;293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957422" y="548638"/>
            <a:ext cx="1243858" cy="1243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5"/>
          <p:cNvSpPr txBox="1"/>
          <p:nvPr>
            <p:ph type="title"/>
          </p:nvPr>
        </p:nvSpPr>
        <p:spPr>
          <a:xfrm>
            <a:off x="612649" y="548638"/>
            <a:ext cx="3493008" cy="5788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/>
              <a:t>Data and information</a:t>
            </a:r>
            <a:endParaRPr sz="4000"/>
          </a:p>
        </p:txBody>
      </p:sp>
      <p:grpSp>
        <p:nvGrpSpPr>
          <p:cNvPr id="300" name="Google Shape;300;p25"/>
          <p:cNvGrpSpPr/>
          <p:nvPr/>
        </p:nvGrpSpPr>
        <p:grpSpPr>
          <a:xfrm>
            <a:off x="4608246" y="551041"/>
            <a:ext cx="6949440" cy="5781834"/>
            <a:chOff x="0" y="2401"/>
            <a:chExt cx="6949440" cy="5781834"/>
          </a:xfrm>
        </p:grpSpPr>
        <p:sp>
          <p:nvSpPr>
            <p:cNvPr id="301" name="Google Shape;301;p25"/>
            <p:cNvSpPr/>
            <p:nvPr/>
          </p:nvSpPr>
          <p:spPr>
            <a:xfrm>
              <a:off x="0" y="2401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5"/>
            <p:cNvSpPr/>
            <p:nvPr/>
          </p:nvSpPr>
          <p:spPr>
            <a:xfrm>
              <a:off x="368211" y="276278"/>
              <a:ext cx="669475" cy="669475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5"/>
            <p:cNvSpPr/>
            <p:nvPr/>
          </p:nvSpPr>
          <p:spPr>
            <a:xfrm>
              <a:off x="1405898" y="2401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5"/>
            <p:cNvSpPr txBox="1"/>
            <p:nvPr/>
          </p:nvSpPr>
          <p:spPr>
            <a:xfrm>
              <a:off x="1405898" y="2401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1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: raw facts collected, stored and processed by a system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25"/>
            <p:cNvSpPr/>
            <p:nvPr/>
          </p:nvSpPr>
          <p:spPr>
            <a:xfrm>
              <a:off x="0" y="1523937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5"/>
            <p:cNvSpPr/>
            <p:nvPr/>
          </p:nvSpPr>
          <p:spPr>
            <a:xfrm>
              <a:off x="368211" y="1797813"/>
              <a:ext cx="669475" cy="66947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5"/>
            <p:cNvSpPr/>
            <p:nvPr/>
          </p:nvSpPr>
          <p:spPr>
            <a:xfrm>
              <a:off x="1405898" y="152393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5"/>
            <p:cNvSpPr txBox="1"/>
            <p:nvPr/>
          </p:nvSpPr>
          <p:spPr>
            <a:xfrm>
              <a:off x="1405898" y="152393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1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Information</a:t>
              </a: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: processed data that has meaning for users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5"/>
            <p:cNvSpPr/>
            <p:nvPr/>
          </p:nvSpPr>
          <p:spPr>
            <a:xfrm>
              <a:off x="0" y="3045472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5"/>
            <p:cNvSpPr/>
            <p:nvPr/>
          </p:nvSpPr>
          <p:spPr>
            <a:xfrm>
              <a:off x="368211" y="3319348"/>
              <a:ext cx="669475" cy="66947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5"/>
            <p:cNvSpPr/>
            <p:nvPr/>
          </p:nvSpPr>
          <p:spPr>
            <a:xfrm>
              <a:off x="1405898" y="3045472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5"/>
            <p:cNvSpPr txBox="1"/>
            <p:nvPr/>
          </p:nvSpPr>
          <p:spPr>
            <a:xfrm>
              <a:off x="1405898" y="3045472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Data is collected, stored, processed and displayed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25"/>
            <p:cNvSpPr/>
            <p:nvPr/>
          </p:nvSpPr>
          <p:spPr>
            <a:xfrm>
              <a:off x="0" y="4567007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5"/>
            <p:cNvSpPr/>
            <p:nvPr/>
          </p:nvSpPr>
          <p:spPr>
            <a:xfrm>
              <a:off x="368211" y="4840884"/>
              <a:ext cx="669475" cy="669475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5"/>
            <p:cNvSpPr/>
            <p:nvPr/>
          </p:nvSpPr>
          <p:spPr>
            <a:xfrm>
              <a:off x="1405898" y="456700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5"/>
            <p:cNvSpPr txBox="1"/>
            <p:nvPr/>
          </p:nvSpPr>
          <p:spPr>
            <a:xfrm>
              <a:off x="1405898" y="456700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Processing turns data into useful outputs for decision-making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Quill with solid fill" id="317" name="Google Shape;317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957422" y="548638"/>
            <a:ext cx="1243858" cy="12438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uill with solid fill" id="318" name="Google Shape;318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957422" y="2102864"/>
            <a:ext cx="1243858" cy="1243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6"/>
          <p:cNvSpPr txBox="1"/>
          <p:nvPr>
            <p:ph type="title"/>
          </p:nvPr>
        </p:nvSpPr>
        <p:spPr>
          <a:xfrm>
            <a:off x="612649" y="548638"/>
            <a:ext cx="3493008" cy="5788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/>
              <a:t>People and Processes</a:t>
            </a:r>
            <a:endParaRPr/>
          </a:p>
        </p:txBody>
      </p:sp>
      <p:grpSp>
        <p:nvGrpSpPr>
          <p:cNvPr id="325" name="Google Shape;325;p26"/>
          <p:cNvGrpSpPr/>
          <p:nvPr/>
        </p:nvGrpSpPr>
        <p:grpSpPr>
          <a:xfrm>
            <a:off x="4608246" y="551041"/>
            <a:ext cx="6949440" cy="5781834"/>
            <a:chOff x="0" y="2401"/>
            <a:chExt cx="6949440" cy="5781834"/>
          </a:xfrm>
        </p:grpSpPr>
        <p:sp>
          <p:nvSpPr>
            <p:cNvPr id="326" name="Google Shape;326;p26"/>
            <p:cNvSpPr/>
            <p:nvPr/>
          </p:nvSpPr>
          <p:spPr>
            <a:xfrm>
              <a:off x="0" y="2401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6"/>
            <p:cNvSpPr/>
            <p:nvPr/>
          </p:nvSpPr>
          <p:spPr>
            <a:xfrm>
              <a:off x="368211" y="276278"/>
              <a:ext cx="669475" cy="669475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6"/>
            <p:cNvSpPr/>
            <p:nvPr/>
          </p:nvSpPr>
          <p:spPr>
            <a:xfrm>
              <a:off x="1405898" y="2401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6"/>
            <p:cNvSpPr txBox="1"/>
            <p:nvPr/>
          </p:nvSpPr>
          <p:spPr>
            <a:xfrm>
              <a:off x="1405898" y="2401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1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People</a:t>
              </a: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include users, operators and system maintainers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26"/>
            <p:cNvSpPr/>
            <p:nvPr/>
          </p:nvSpPr>
          <p:spPr>
            <a:xfrm>
              <a:off x="0" y="1523937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6"/>
            <p:cNvSpPr/>
            <p:nvPr/>
          </p:nvSpPr>
          <p:spPr>
            <a:xfrm>
              <a:off x="368211" y="1797813"/>
              <a:ext cx="669475" cy="66947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6"/>
            <p:cNvSpPr/>
            <p:nvPr/>
          </p:nvSpPr>
          <p:spPr>
            <a:xfrm>
              <a:off x="1405898" y="152393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6"/>
            <p:cNvSpPr txBox="1"/>
            <p:nvPr/>
          </p:nvSpPr>
          <p:spPr>
            <a:xfrm>
              <a:off x="1405898" y="152393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Human roles are still critical despite advances in AI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26"/>
            <p:cNvSpPr/>
            <p:nvPr/>
          </p:nvSpPr>
          <p:spPr>
            <a:xfrm>
              <a:off x="0" y="3045472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6"/>
            <p:cNvSpPr/>
            <p:nvPr/>
          </p:nvSpPr>
          <p:spPr>
            <a:xfrm>
              <a:off x="368211" y="3319348"/>
              <a:ext cx="669475" cy="66947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6"/>
            <p:cNvSpPr/>
            <p:nvPr/>
          </p:nvSpPr>
          <p:spPr>
            <a:xfrm>
              <a:off x="1405898" y="3045472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6"/>
            <p:cNvSpPr txBox="1"/>
            <p:nvPr/>
          </p:nvSpPr>
          <p:spPr>
            <a:xfrm>
              <a:off x="1405898" y="3045472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1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Processes</a:t>
              </a: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are the rules and steps that guide system operation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26"/>
            <p:cNvSpPr/>
            <p:nvPr/>
          </p:nvSpPr>
          <p:spPr>
            <a:xfrm>
              <a:off x="0" y="4567007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6"/>
            <p:cNvSpPr/>
            <p:nvPr/>
          </p:nvSpPr>
          <p:spPr>
            <a:xfrm>
              <a:off x="368211" y="4840884"/>
              <a:ext cx="669475" cy="669475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6"/>
            <p:cNvSpPr/>
            <p:nvPr/>
          </p:nvSpPr>
          <p:spPr>
            <a:xfrm>
              <a:off x="1405898" y="456700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6"/>
            <p:cNvSpPr txBox="1"/>
            <p:nvPr/>
          </p:nvSpPr>
          <p:spPr>
            <a:xfrm>
              <a:off x="1405898" y="456700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Processes ensure consistency, accuracy and reliability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7"/>
          <p:cNvSpPr txBox="1"/>
          <p:nvPr>
            <p:ph type="title"/>
          </p:nvPr>
        </p:nvSpPr>
        <p:spPr>
          <a:xfrm>
            <a:off x="612649" y="548638"/>
            <a:ext cx="3493008" cy="5788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/>
              <a:t>Structured Data</a:t>
            </a:r>
            <a:endParaRPr sz="4000"/>
          </a:p>
        </p:txBody>
      </p:sp>
      <p:grpSp>
        <p:nvGrpSpPr>
          <p:cNvPr id="348" name="Google Shape;348;p27"/>
          <p:cNvGrpSpPr/>
          <p:nvPr/>
        </p:nvGrpSpPr>
        <p:grpSpPr>
          <a:xfrm>
            <a:off x="4608246" y="551041"/>
            <a:ext cx="6949440" cy="5781834"/>
            <a:chOff x="0" y="2401"/>
            <a:chExt cx="6949440" cy="5781834"/>
          </a:xfrm>
        </p:grpSpPr>
        <p:sp>
          <p:nvSpPr>
            <p:cNvPr id="349" name="Google Shape;349;p27"/>
            <p:cNvSpPr/>
            <p:nvPr/>
          </p:nvSpPr>
          <p:spPr>
            <a:xfrm>
              <a:off x="0" y="2401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7"/>
            <p:cNvSpPr/>
            <p:nvPr/>
          </p:nvSpPr>
          <p:spPr>
            <a:xfrm>
              <a:off x="368211" y="276278"/>
              <a:ext cx="669475" cy="669475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7"/>
            <p:cNvSpPr/>
            <p:nvPr/>
          </p:nvSpPr>
          <p:spPr>
            <a:xfrm>
              <a:off x="1405898" y="2401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7"/>
            <p:cNvSpPr txBox="1"/>
            <p:nvPr/>
          </p:nvSpPr>
          <p:spPr>
            <a:xfrm>
              <a:off x="1405898" y="2401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Quantitative data stored in predefined formats or models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27"/>
            <p:cNvSpPr/>
            <p:nvPr/>
          </p:nvSpPr>
          <p:spPr>
            <a:xfrm>
              <a:off x="0" y="1523937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7"/>
            <p:cNvSpPr/>
            <p:nvPr/>
          </p:nvSpPr>
          <p:spPr>
            <a:xfrm>
              <a:off x="368211" y="1797813"/>
              <a:ext cx="669475" cy="66947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7"/>
            <p:cNvSpPr/>
            <p:nvPr/>
          </p:nvSpPr>
          <p:spPr>
            <a:xfrm>
              <a:off x="1405898" y="152393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7"/>
            <p:cNvSpPr txBox="1"/>
            <p:nvPr/>
          </p:nvSpPr>
          <p:spPr>
            <a:xfrm>
              <a:off x="1405898" y="152393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Organised into records and fields within databases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27"/>
            <p:cNvSpPr/>
            <p:nvPr/>
          </p:nvSpPr>
          <p:spPr>
            <a:xfrm>
              <a:off x="0" y="3045472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7"/>
            <p:cNvSpPr/>
            <p:nvPr/>
          </p:nvSpPr>
          <p:spPr>
            <a:xfrm>
              <a:off x="368211" y="3319348"/>
              <a:ext cx="669475" cy="66947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7"/>
            <p:cNvSpPr/>
            <p:nvPr/>
          </p:nvSpPr>
          <p:spPr>
            <a:xfrm>
              <a:off x="1405898" y="3045472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7"/>
            <p:cNvSpPr txBox="1"/>
            <p:nvPr/>
          </p:nvSpPr>
          <p:spPr>
            <a:xfrm>
              <a:off x="1405898" y="3045472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Easier to store, search and analyse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27"/>
            <p:cNvSpPr/>
            <p:nvPr/>
          </p:nvSpPr>
          <p:spPr>
            <a:xfrm>
              <a:off x="0" y="4567007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7"/>
            <p:cNvSpPr/>
            <p:nvPr/>
          </p:nvSpPr>
          <p:spPr>
            <a:xfrm>
              <a:off x="368211" y="4840884"/>
              <a:ext cx="669475" cy="669475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7"/>
            <p:cNvSpPr/>
            <p:nvPr/>
          </p:nvSpPr>
          <p:spPr>
            <a:xfrm>
              <a:off x="1405898" y="456700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7"/>
            <p:cNvSpPr txBox="1"/>
            <p:nvPr/>
          </p:nvSpPr>
          <p:spPr>
            <a:xfrm>
              <a:off x="1405898" y="456700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Examples include names, dates, IDs and timestamps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Quill with solid fill" id="365" name="Google Shape;365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957422" y="548638"/>
            <a:ext cx="1243858" cy="1243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8"/>
          <p:cNvSpPr txBox="1"/>
          <p:nvPr>
            <p:ph type="title"/>
          </p:nvPr>
        </p:nvSpPr>
        <p:spPr>
          <a:xfrm>
            <a:off x="612649" y="548638"/>
            <a:ext cx="3493008" cy="5788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/>
              <a:t>Unstructured Data</a:t>
            </a:r>
            <a:endParaRPr sz="4000"/>
          </a:p>
        </p:txBody>
      </p:sp>
      <p:grpSp>
        <p:nvGrpSpPr>
          <p:cNvPr id="372" name="Google Shape;372;p28"/>
          <p:cNvGrpSpPr/>
          <p:nvPr/>
        </p:nvGrpSpPr>
        <p:grpSpPr>
          <a:xfrm>
            <a:off x="4608246" y="548640"/>
            <a:ext cx="6949440" cy="5786637"/>
            <a:chOff x="0" y="0"/>
            <a:chExt cx="6949440" cy="5786637"/>
          </a:xfrm>
        </p:grpSpPr>
        <p:cxnSp>
          <p:nvCxnSpPr>
            <p:cNvPr id="373" name="Google Shape;373;p28"/>
            <p:cNvCxnSpPr/>
            <p:nvPr/>
          </p:nvCxnSpPr>
          <p:spPr>
            <a:xfrm>
              <a:off x="0" y="0"/>
              <a:ext cx="6949440" cy="0"/>
            </a:xfrm>
            <a:prstGeom prst="straightConnector1">
              <a:avLst/>
            </a:prstGeom>
            <a:solidFill>
              <a:schemeClr val="accent2"/>
            </a:solidFill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74" name="Google Shape;374;p28"/>
            <p:cNvSpPr/>
            <p:nvPr/>
          </p:nvSpPr>
          <p:spPr>
            <a:xfrm>
              <a:off x="0" y="0"/>
              <a:ext cx="6949440" cy="1446659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8"/>
            <p:cNvSpPr txBox="1"/>
            <p:nvPr/>
          </p:nvSpPr>
          <p:spPr>
            <a:xfrm>
              <a:off x="0" y="0"/>
              <a:ext cx="6949440" cy="14466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77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Does not fit predefined formats or models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6" name="Google Shape;376;p28"/>
            <p:cNvCxnSpPr/>
            <p:nvPr/>
          </p:nvCxnSpPr>
          <p:spPr>
            <a:xfrm>
              <a:off x="0" y="1446659"/>
              <a:ext cx="6949440" cy="0"/>
            </a:xfrm>
            <a:prstGeom prst="straightConnector1">
              <a:avLst/>
            </a:prstGeom>
            <a:solidFill>
              <a:srgbClr val="F2823E"/>
            </a:solidFill>
            <a:ln cap="flat" cmpd="sng" w="12700">
              <a:solidFill>
                <a:srgbClr val="F2823E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77" name="Google Shape;377;p28"/>
            <p:cNvSpPr/>
            <p:nvPr/>
          </p:nvSpPr>
          <p:spPr>
            <a:xfrm>
              <a:off x="0" y="1446659"/>
              <a:ext cx="6949440" cy="14466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8"/>
            <p:cNvSpPr txBox="1"/>
            <p:nvPr/>
          </p:nvSpPr>
          <p:spPr>
            <a:xfrm>
              <a:off x="0" y="1446659"/>
              <a:ext cx="6949440" cy="14466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77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Often complex and harder to analyse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9" name="Google Shape;379;p28"/>
            <p:cNvCxnSpPr/>
            <p:nvPr/>
          </p:nvCxnSpPr>
          <p:spPr>
            <a:xfrm>
              <a:off x="0" y="2893318"/>
              <a:ext cx="6949440" cy="0"/>
            </a:xfrm>
            <a:prstGeom prst="straightConnector1">
              <a:avLst/>
            </a:prstGeom>
            <a:solidFill>
              <a:srgbClr val="EA6E3C"/>
            </a:solidFill>
            <a:ln cap="flat" cmpd="sng" w="12700">
              <a:solidFill>
                <a:srgbClr val="EA6E3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80" name="Google Shape;380;p28"/>
            <p:cNvSpPr/>
            <p:nvPr/>
          </p:nvSpPr>
          <p:spPr>
            <a:xfrm>
              <a:off x="0" y="2893318"/>
              <a:ext cx="6949440" cy="14466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8"/>
            <p:cNvSpPr txBox="1"/>
            <p:nvPr/>
          </p:nvSpPr>
          <p:spPr>
            <a:xfrm>
              <a:off x="0" y="2893318"/>
              <a:ext cx="6949440" cy="14466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77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Examples include photos, videos and audio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2" name="Google Shape;382;p28"/>
            <p:cNvCxnSpPr/>
            <p:nvPr/>
          </p:nvCxnSpPr>
          <p:spPr>
            <a:xfrm>
              <a:off x="0" y="4339978"/>
              <a:ext cx="6949440" cy="0"/>
            </a:xfrm>
            <a:prstGeom prst="straightConnector1">
              <a:avLst/>
            </a:prstGeom>
            <a:solidFill>
              <a:srgbClr val="E15B3C"/>
            </a:solidFill>
            <a:ln cap="flat" cmpd="sng" w="12700">
              <a:solidFill>
                <a:srgbClr val="E15B3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83" name="Google Shape;383;p28"/>
            <p:cNvSpPr/>
            <p:nvPr/>
          </p:nvSpPr>
          <p:spPr>
            <a:xfrm>
              <a:off x="0" y="4339978"/>
              <a:ext cx="6949440" cy="14466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8"/>
            <p:cNvSpPr txBox="1"/>
            <p:nvPr/>
          </p:nvSpPr>
          <p:spPr>
            <a:xfrm>
              <a:off x="0" y="4339978"/>
              <a:ext cx="6949440" cy="14466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t/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77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Requires technologies such as OCR and machine learning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Quill with solid fill" id="385" name="Google Shape;38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9056" y="0"/>
            <a:ext cx="1243858" cy="1243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9"/>
          <p:cNvSpPr txBox="1"/>
          <p:nvPr>
            <p:ph type="title"/>
          </p:nvPr>
        </p:nvSpPr>
        <p:spPr>
          <a:xfrm>
            <a:off x="612649" y="548638"/>
            <a:ext cx="3493008" cy="5788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/>
              <a:t>The Three Vs of Data</a:t>
            </a:r>
            <a:endParaRPr sz="4000"/>
          </a:p>
        </p:txBody>
      </p:sp>
      <p:grpSp>
        <p:nvGrpSpPr>
          <p:cNvPr id="392" name="Google Shape;392;p29"/>
          <p:cNvGrpSpPr/>
          <p:nvPr/>
        </p:nvGrpSpPr>
        <p:grpSpPr>
          <a:xfrm>
            <a:off x="4608246" y="551041"/>
            <a:ext cx="6949440" cy="5781834"/>
            <a:chOff x="0" y="2401"/>
            <a:chExt cx="6949440" cy="5781834"/>
          </a:xfrm>
        </p:grpSpPr>
        <p:sp>
          <p:nvSpPr>
            <p:cNvPr id="393" name="Google Shape;393;p29"/>
            <p:cNvSpPr/>
            <p:nvPr/>
          </p:nvSpPr>
          <p:spPr>
            <a:xfrm>
              <a:off x="0" y="2401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9"/>
            <p:cNvSpPr/>
            <p:nvPr/>
          </p:nvSpPr>
          <p:spPr>
            <a:xfrm>
              <a:off x="368211" y="276278"/>
              <a:ext cx="669475" cy="669475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9"/>
            <p:cNvSpPr/>
            <p:nvPr/>
          </p:nvSpPr>
          <p:spPr>
            <a:xfrm>
              <a:off x="1405898" y="2401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9"/>
            <p:cNvSpPr txBox="1"/>
            <p:nvPr/>
          </p:nvSpPr>
          <p:spPr>
            <a:xfrm>
              <a:off x="1405898" y="2401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1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Variety</a:t>
              </a: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: different types of data (structured and unstructured)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29"/>
            <p:cNvSpPr/>
            <p:nvPr/>
          </p:nvSpPr>
          <p:spPr>
            <a:xfrm>
              <a:off x="0" y="1523937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9"/>
            <p:cNvSpPr/>
            <p:nvPr/>
          </p:nvSpPr>
          <p:spPr>
            <a:xfrm>
              <a:off x="368211" y="1797813"/>
              <a:ext cx="669475" cy="66947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9"/>
            <p:cNvSpPr/>
            <p:nvPr/>
          </p:nvSpPr>
          <p:spPr>
            <a:xfrm>
              <a:off x="1405898" y="152393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9"/>
            <p:cNvSpPr txBox="1"/>
            <p:nvPr/>
          </p:nvSpPr>
          <p:spPr>
            <a:xfrm>
              <a:off x="1405898" y="152393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1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Volume</a:t>
              </a: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: the amount of data collected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29"/>
            <p:cNvSpPr/>
            <p:nvPr/>
          </p:nvSpPr>
          <p:spPr>
            <a:xfrm>
              <a:off x="0" y="3045472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9"/>
            <p:cNvSpPr/>
            <p:nvPr/>
          </p:nvSpPr>
          <p:spPr>
            <a:xfrm>
              <a:off x="368211" y="3319348"/>
              <a:ext cx="669475" cy="66947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9"/>
            <p:cNvSpPr/>
            <p:nvPr/>
          </p:nvSpPr>
          <p:spPr>
            <a:xfrm>
              <a:off x="1405898" y="3045472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9"/>
            <p:cNvSpPr txBox="1"/>
            <p:nvPr/>
          </p:nvSpPr>
          <p:spPr>
            <a:xfrm>
              <a:off x="1405898" y="3045472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1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Velocity</a:t>
              </a: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: the speed at which data is generated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29"/>
            <p:cNvSpPr/>
            <p:nvPr/>
          </p:nvSpPr>
          <p:spPr>
            <a:xfrm>
              <a:off x="0" y="4567007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9"/>
            <p:cNvSpPr/>
            <p:nvPr/>
          </p:nvSpPr>
          <p:spPr>
            <a:xfrm>
              <a:off x="368211" y="4840884"/>
              <a:ext cx="669475" cy="669475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9"/>
            <p:cNvSpPr/>
            <p:nvPr/>
          </p:nvSpPr>
          <p:spPr>
            <a:xfrm>
              <a:off x="1405898" y="456700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9"/>
            <p:cNvSpPr txBox="1"/>
            <p:nvPr/>
          </p:nvSpPr>
          <p:spPr>
            <a:xfrm>
              <a:off x="1405898" y="456700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Used to determine appropriate data processing methods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30"/>
          <p:cNvSpPr txBox="1"/>
          <p:nvPr>
            <p:ph type="title"/>
          </p:nvPr>
        </p:nvSpPr>
        <p:spPr>
          <a:xfrm>
            <a:off x="612649" y="548638"/>
            <a:ext cx="3493008" cy="5788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/>
              <a:t>Evolution of Data Analysis</a:t>
            </a:r>
            <a:endParaRPr/>
          </a:p>
        </p:txBody>
      </p:sp>
      <p:grpSp>
        <p:nvGrpSpPr>
          <p:cNvPr id="415" name="Google Shape;415;p30"/>
          <p:cNvGrpSpPr/>
          <p:nvPr/>
        </p:nvGrpSpPr>
        <p:grpSpPr>
          <a:xfrm>
            <a:off x="4608246" y="551041"/>
            <a:ext cx="6949440" cy="5781834"/>
            <a:chOff x="0" y="2401"/>
            <a:chExt cx="6949440" cy="5781834"/>
          </a:xfrm>
        </p:grpSpPr>
        <p:sp>
          <p:nvSpPr>
            <p:cNvPr id="416" name="Google Shape;416;p30"/>
            <p:cNvSpPr/>
            <p:nvPr/>
          </p:nvSpPr>
          <p:spPr>
            <a:xfrm>
              <a:off x="0" y="2401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30"/>
            <p:cNvSpPr/>
            <p:nvPr/>
          </p:nvSpPr>
          <p:spPr>
            <a:xfrm>
              <a:off x="368211" y="276278"/>
              <a:ext cx="669475" cy="669475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0"/>
            <p:cNvSpPr/>
            <p:nvPr/>
          </p:nvSpPr>
          <p:spPr>
            <a:xfrm>
              <a:off x="1405898" y="2401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0"/>
            <p:cNvSpPr txBox="1"/>
            <p:nvPr/>
          </p:nvSpPr>
          <p:spPr>
            <a:xfrm>
              <a:off x="1405898" y="2401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Advances in AI allow analysis of unstructured data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30"/>
            <p:cNvSpPr/>
            <p:nvPr/>
          </p:nvSpPr>
          <p:spPr>
            <a:xfrm>
              <a:off x="0" y="1523937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30"/>
            <p:cNvSpPr/>
            <p:nvPr/>
          </p:nvSpPr>
          <p:spPr>
            <a:xfrm>
              <a:off x="368211" y="1797813"/>
              <a:ext cx="669475" cy="66947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30"/>
            <p:cNvSpPr/>
            <p:nvPr/>
          </p:nvSpPr>
          <p:spPr>
            <a:xfrm>
              <a:off x="1405898" y="152393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30"/>
            <p:cNvSpPr txBox="1"/>
            <p:nvPr/>
          </p:nvSpPr>
          <p:spPr>
            <a:xfrm>
              <a:off x="1405898" y="152393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Machine learning finds patterns without predefined models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30"/>
            <p:cNvSpPr/>
            <p:nvPr/>
          </p:nvSpPr>
          <p:spPr>
            <a:xfrm>
              <a:off x="0" y="3045472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0"/>
            <p:cNvSpPr/>
            <p:nvPr/>
          </p:nvSpPr>
          <p:spPr>
            <a:xfrm>
              <a:off x="368211" y="3319348"/>
              <a:ext cx="669475" cy="66947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30"/>
            <p:cNvSpPr/>
            <p:nvPr/>
          </p:nvSpPr>
          <p:spPr>
            <a:xfrm>
              <a:off x="1405898" y="3045472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0"/>
            <p:cNvSpPr txBox="1"/>
            <p:nvPr/>
          </p:nvSpPr>
          <p:spPr>
            <a:xfrm>
              <a:off x="1405898" y="3045472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Enables connections between previously separate data sources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30"/>
            <p:cNvSpPr/>
            <p:nvPr/>
          </p:nvSpPr>
          <p:spPr>
            <a:xfrm>
              <a:off x="0" y="4567007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0"/>
            <p:cNvSpPr/>
            <p:nvPr/>
          </p:nvSpPr>
          <p:spPr>
            <a:xfrm>
              <a:off x="368211" y="4840884"/>
              <a:ext cx="669475" cy="669475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30"/>
            <p:cNvSpPr/>
            <p:nvPr/>
          </p:nvSpPr>
          <p:spPr>
            <a:xfrm>
              <a:off x="1405898" y="456700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30"/>
            <p:cNvSpPr txBox="1"/>
            <p:nvPr/>
          </p:nvSpPr>
          <p:spPr>
            <a:xfrm>
              <a:off x="1405898" y="456700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Supports deeper insights and automated decision-making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31"/>
          <p:cNvSpPr txBox="1"/>
          <p:nvPr>
            <p:ph type="title"/>
          </p:nvPr>
        </p:nvSpPr>
        <p:spPr>
          <a:xfrm>
            <a:off x="612649" y="548638"/>
            <a:ext cx="3493008" cy="5788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/>
              <a:t>Categories of Information Systems</a:t>
            </a:r>
            <a:endParaRPr sz="4000"/>
          </a:p>
        </p:txBody>
      </p:sp>
      <p:grpSp>
        <p:nvGrpSpPr>
          <p:cNvPr id="438" name="Google Shape;438;p31"/>
          <p:cNvGrpSpPr/>
          <p:nvPr/>
        </p:nvGrpSpPr>
        <p:grpSpPr>
          <a:xfrm>
            <a:off x="4608246" y="551041"/>
            <a:ext cx="6949440" cy="5781834"/>
            <a:chOff x="0" y="2401"/>
            <a:chExt cx="6949440" cy="5781834"/>
          </a:xfrm>
        </p:grpSpPr>
        <p:sp>
          <p:nvSpPr>
            <p:cNvPr id="439" name="Google Shape;439;p31"/>
            <p:cNvSpPr/>
            <p:nvPr/>
          </p:nvSpPr>
          <p:spPr>
            <a:xfrm>
              <a:off x="0" y="2401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31"/>
            <p:cNvSpPr/>
            <p:nvPr/>
          </p:nvSpPr>
          <p:spPr>
            <a:xfrm>
              <a:off x="368211" y="276278"/>
              <a:ext cx="669475" cy="669475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31"/>
            <p:cNvSpPr/>
            <p:nvPr/>
          </p:nvSpPr>
          <p:spPr>
            <a:xfrm>
              <a:off x="1405898" y="2401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31"/>
            <p:cNvSpPr txBox="1"/>
            <p:nvPr/>
          </p:nvSpPr>
          <p:spPr>
            <a:xfrm>
              <a:off x="1405898" y="2401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Management Information Systems (MIS)</a:t>
              </a:r>
              <a:br>
                <a:rPr b="0" i="0" lang="en-US" sz="2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2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Help organisations manage data and make decisions</a:t>
              </a:r>
              <a:endPara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31"/>
            <p:cNvSpPr/>
            <p:nvPr/>
          </p:nvSpPr>
          <p:spPr>
            <a:xfrm>
              <a:off x="0" y="1523937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31"/>
            <p:cNvSpPr/>
            <p:nvPr/>
          </p:nvSpPr>
          <p:spPr>
            <a:xfrm>
              <a:off x="368211" y="1797813"/>
              <a:ext cx="669475" cy="66947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31"/>
            <p:cNvSpPr/>
            <p:nvPr/>
          </p:nvSpPr>
          <p:spPr>
            <a:xfrm>
              <a:off x="1405898" y="152393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31"/>
            <p:cNvSpPr txBox="1"/>
            <p:nvPr/>
          </p:nvSpPr>
          <p:spPr>
            <a:xfrm>
              <a:off x="1405898" y="152393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Transaction Processing Systems (TPS)</a:t>
              </a:r>
              <a:br>
                <a:rPr b="0" i="0" lang="en-US" sz="2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2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Process everyday transactions like purchases and payments</a:t>
              </a:r>
              <a:endPara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31"/>
            <p:cNvSpPr/>
            <p:nvPr/>
          </p:nvSpPr>
          <p:spPr>
            <a:xfrm>
              <a:off x="0" y="3045472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31"/>
            <p:cNvSpPr/>
            <p:nvPr/>
          </p:nvSpPr>
          <p:spPr>
            <a:xfrm>
              <a:off x="368211" y="3319348"/>
              <a:ext cx="669475" cy="66947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31"/>
            <p:cNvSpPr/>
            <p:nvPr/>
          </p:nvSpPr>
          <p:spPr>
            <a:xfrm>
              <a:off x="1405898" y="3045472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31"/>
            <p:cNvSpPr txBox="1"/>
            <p:nvPr/>
          </p:nvSpPr>
          <p:spPr>
            <a:xfrm>
              <a:off x="1405898" y="3045472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Decision Support Systems (DSS)</a:t>
              </a:r>
              <a:br>
                <a:rPr b="0" i="0" lang="en-US" sz="2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2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Help people make complex decisions using data</a:t>
              </a:r>
              <a:endPara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31"/>
            <p:cNvSpPr/>
            <p:nvPr/>
          </p:nvSpPr>
          <p:spPr>
            <a:xfrm>
              <a:off x="0" y="4567007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31"/>
            <p:cNvSpPr/>
            <p:nvPr/>
          </p:nvSpPr>
          <p:spPr>
            <a:xfrm>
              <a:off x="368211" y="4840884"/>
              <a:ext cx="669475" cy="669475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31"/>
            <p:cNvSpPr/>
            <p:nvPr/>
          </p:nvSpPr>
          <p:spPr>
            <a:xfrm>
              <a:off x="1405898" y="456700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31"/>
            <p:cNvSpPr txBox="1"/>
            <p:nvPr/>
          </p:nvSpPr>
          <p:spPr>
            <a:xfrm>
              <a:off x="1405898" y="456700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Expert Systems</a:t>
              </a:r>
              <a:br>
                <a:rPr b="0" i="0" lang="en-US" sz="2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2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Act like a human expert by using rules and knowledge</a:t>
              </a:r>
              <a:endPara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32"/>
          <p:cNvSpPr txBox="1"/>
          <p:nvPr>
            <p:ph type="title"/>
          </p:nvPr>
        </p:nvSpPr>
        <p:spPr>
          <a:xfrm>
            <a:off x="612649" y="548638"/>
            <a:ext cx="3493008" cy="5788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/>
              <a:t>Categories of Information Systems</a:t>
            </a:r>
            <a:endParaRPr sz="4000"/>
          </a:p>
        </p:txBody>
      </p:sp>
      <p:grpSp>
        <p:nvGrpSpPr>
          <p:cNvPr id="461" name="Google Shape;461;p32"/>
          <p:cNvGrpSpPr/>
          <p:nvPr/>
        </p:nvGrpSpPr>
        <p:grpSpPr>
          <a:xfrm>
            <a:off x="4608246" y="651508"/>
            <a:ext cx="6949440" cy="5580901"/>
            <a:chOff x="0" y="102868"/>
            <a:chExt cx="6949440" cy="5580901"/>
          </a:xfrm>
        </p:grpSpPr>
        <p:sp>
          <p:nvSpPr>
            <p:cNvPr id="462" name="Google Shape;462;p32"/>
            <p:cNvSpPr/>
            <p:nvPr/>
          </p:nvSpPr>
          <p:spPr>
            <a:xfrm>
              <a:off x="0" y="102868"/>
              <a:ext cx="6949440" cy="1254825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32"/>
            <p:cNvSpPr txBox="1"/>
            <p:nvPr/>
          </p:nvSpPr>
          <p:spPr>
            <a:xfrm>
              <a:off x="61256" y="164124"/>
              <a:ext cx="6826928" cy="1132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1" i="0" lang="en-US" sz="2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Geographic Information Systems (GIS)</a:t>
              </a:r>
              <a:br>
                <a:rPr b="0" i="0" lang="en-US" sz="2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2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Use maps and location data to show patterns and trends</a:t>
              </a:r>
              <a:endPara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32"/>
            <p:cNvSpPr/>
            <p:nvPr/>
          </p:nvSpPr>
          <p:spPr>
            <a:xfrm>
              <a:off x="0" y="1544893"/>
              <a:ext cx="6949440" cy="1254825"/>
            </a:xfrm>
            <a:prstGeom prst="roundRect">
              <a:avLst>
                <a:gd fmla="val 16667" name="adj"/>
              </a:avLst>
            </a:prstGeom>
            <a:solidFill>
              <a:srgbClr val="F2823E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32"/>
            <p:cNvSpPr txBox="1"/>
            <p:nvPr/>
          </p:nvSpPr>
          <p:spPr>
            <a:xfrm>
              <a:off x="61256" y="1606149"/>
              <a:ext cx="6826928" cy="1132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1" i="0" lang="en-US" sz="2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Enterprise Information Systems</a:t>
              </a:r>
              <a:br>
                <a:rPr b="0" i="0" lang="en-US" sz="2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2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Large systems that combine many functions across an organisation</a:t>
              </a:r>
              <a:endPara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32"/>
            <p:cNvSpPr/>
            <p:nvPr/>
          </p:nvSpPr>
          <p:spPr>
            <a:xfrm>
              <a:off x="0" y="2986918"/>
              <a:ext cx="6949440" cy="1254825"/>
            </a:xfrm>
            <a:prstGeom prst="roundRect">
              <a:avLst>
                <a:gd fmla="val 16667" name="adj"/>
              </a:avLst>
            </a:prstGeom>
            <a:solidFill>
              <a:srgbClr val="EA6E3C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32"/>
            <p:cNvSpPr txBox="1"/>
            <p:nvPr/>
          </p:nvSpPr>
          <p:spPr>
            <a:xfrm>
              <a:off x="61256" y="3048174"/>
              <a:ext cx="6826928" cy="1132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1" i="0" lang="en-US" sz="2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Learning Management Systems (LMS)</a:t>
              </a:r>
              <a:br>
                <a:rPr b="0" i="0" lang="en-US" sz="2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2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Deliver and manage learning and track student progress</a:t>
              </a:r>
              <a:endPara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32"/>
            <p:cNvSpPr/>
            <p:nvPr/>
          </p:nvSpPr>
          <p:spPr>
            <a:xfrm>
              <a:off x="0" y="4428944"/>
              <a:ext cx="6949440" cy="1254825"/>
            </a:xfrm>
            <a:prstGeom prst="roundRect">
              <a:avLst>
                <a:gd fmla="val 16667" name="adj"/>
              </a:avLst>
            </a:prstGeom>
            <a:solidFill>
              <a:srgbClr val="E15B3C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32"/>
            <p:cNvSpPr txBox="1"/>
            <p:nvPr/>
          </p:nvSpPr>
          <p:spPr>
            <a:xfrm>
              <a:off x="61256" y="4490200"/>
              <a:ext cx="6826928" cy="1132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1" i="0" lang="en-US" sz="2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Multimedia Systems</a:t>
              </a:r>
              <a:br>
                <a:rPr b="0" i="0" lang="en-US" sz="2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2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Use text, images, audio and video to create interactive experiences</a:t>
              </a:r>
              <a:endPara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33"/>
          <p:cNvSpPr txBox="1"/>
          <p:nvPr>
            <p:ph type="title"/>
          </p:nvPr>
        </p:nvSpPr>
        <p:spPr>
          <a:xfrm>
            <a:off x="612649" y="548638"/>
            <a:ext cx="3493008" cy="5788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/>
              <a:t>Databases and Data Warehouses</a:t>
            </a:r>
            <a:endParaRPr/>
          </a:p>
        </p:txBody>
      </p:sp>
      <p:grpSp>
        <p:nvGrpSpPr>
          <p:cNvPr id="476" name="Google Shape;476;p33"/>
          <p:cNvGrpSpPr/>
          <p:nvPr/>
        </p:nvGrpSpPr>
        <p:grpSpPr>
          <a:xfrm>
            <a:off x="4608246" y="551041"/>
            <a:ext cx="6949440" cy="5781834"/>
            <a:chOff x="0" y="2401"/>
            <a:chExt cx="6949440" cy="5781834"/>
          </a:xfrm>
        </p:grpSpPr>
        <p:sp>
          <p:nvSpPr>
            <p:cNvPr id="477" name="Google Shape;477;p33"/>
            <p:cNvSpPr/>
            <p:nvPr/>
          </p:nvSpPr>
          <p:spPr>
            <a:xfrm>
              <a:off x="0" y="2401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3"/>
            <p:cNvSpPr/>
            <p:nvPr/>
          </p:nvSpPr>
          <p:spPr>
            <a:xfrm>
              <a:off x="368211" y="276278"/>
              <a:ext cx="669475" cy="669475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3"/>
            <p:cNvSpPr/>
            <p:nvPr/>
          </p:nvSpPr>
          <p:spPr>
            <a:xfrm>
              <a:off x="1405898" y="2401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3"/>
            <p:cNvSpPr txBox="1"/>
            <p:nvPr/>
          </p:nvSpPr>
          <p:spPr>
            <a:xfrm>
              <a:off x="1405898" y="2401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Databases store organised data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33"/>
            <p:cNvSpPr/>
            <p:nvPr/>
          </p:nvSpPr>
          <p:spPr>
            <a:xfrm>
              <a:off x="0" y="1523937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33"/>
            <p:cNvSpPr/>
            <p:nvPr/>
          </p:nvSpPr>
          <p:spPr>
            <a:xfrm>
              <a:off x="368211" y="1797813"/>
              <a:ext cx="669475" cy="66947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33"/>
            <p:cNvSpPr/>
            <p:nvPr/>
          </p:nvSpPr>
          <p:spPr>
            <a:xfrm>
              <a:off x="1405898" y="152393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3"/>
            <p:cNvSpPr txBox="1"/>
            <p:nvPr/>
          </p:nvSpPr>
          <p:spPr>
            <a:xfrm>
              <a:off x="1405898" y="152393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Data warehouses combine multiple databases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33"/>
            <p:cNvSpPr/>
            <p:nvPr/>
          </p:nvSpPr>
          <p:spPr>
            <a:xfrm>
              <a:off x="0" y="3045472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33"/>
            <p:cNvSpPr/>
            <p:nvPr/>
          </p:nvSpPr>
          <p:spPr>
            <a:xfrm>
              <a:off x="368211" y="3319348"/>
              <a:ext cx="669475" cy="66947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3"/>
            <p:cNvSpPr/>
            <p:nvPr/>
          </p:nvSpPr>
          <p:spPr>
            <a:xfrm>
              <a:off x="1405898" y="3045472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3"/>
            <p:cNvSpPr txBox="1"/>
            <p:nvPr/>
          </p:nvSpPr>
          <p:spPr>
            <a:xfrm>
              <a:off x="1405898" y="3045472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Enable data mining and advanced analysis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33"/>
            <p:cNvSpPr/>
            <p:nvPr/>
          </p:nvSpPr>
          <p:spPr>
            <a:xfrm>
              <a:off x="0" y="4567007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33"/>
            <p:cNvSpPr/>
            <p:nvPr/>
          </p:nvSpPr>
          <p:spPr>
            <a:xfrm>
              <a:off x="368211" y="4840884"/>
              <a:ext cx="669475" cy="669475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33"/>
            <p:cNvSpPr/>
            <p:nvPr/>
          </p:nvSpPr>
          <p:spPr>
            <a:xfrm>
              <a:off x="1405898" y="456700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33"/>
            <p:cNvSpPr txBox="1"/>
            <p:nvPr/>
          </p:nvSpPr>
          <p:spPr>
            <a:xfrm>
              <a:off x="1405898" y="456700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Can raise ethical concerns when combining personal data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34"/>
          <p:cNvSpPr txBox="1"/>
          <p:nvPr>
            <p:ph type="title"/>
          </p:nvPr>
        </p:nvSpPr>
        <p:spPr>
          <a:xfrm>
            <a:off x="557619" y="-1041419"/>
            <a:ext cx="3493008" cy="5788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/>
              <a:t>Spreadsheet Software</a:t>
            </a:r>
            <a:endParaRPr/>
          </a:p>
        </p:txBody>
      </p:sp>
      <p:grpSp>
        <p:nvGrpSpPr>
          <p:cNvPr id="499" name="Google Shape;499;p34"/>
          <p:cNvGrpSpPr/>
          <p:nvPr/>
        </p:nvGrpSpPr>
        <p:grpSpPr>
          <a:xfrm>
            <a:off x="4608246" y="727558"/>
            <a:ext cx="6949440" cy="5428801"/>
            <a:chOff x="0" y="178918"/>
            <a:chExt cx="6949440" cy="5428801"/>
          </a:xfrm>
        </p:grpSpPr>
        <p:sp>
          <p:nvSpPr>
            <p:cNvPr id="500" name="Google Shape;500;p34"/>
            <p:cNvSpPr/>
            <p:nvPr/>
          </p:nvSpPr>
          <p:spPr>
            <a:xfrm>
              <a:off x="0" y="178918"/>
              <a:ext cx="6949440" cy="121680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34"/>
            <p:cNvSpPr txBox="1"/>
            <p:nvPr/>
          </p:nvSpPr>
          <p:spPr>
            <a:xfrm>
              <a:off x="59399" y="238317"/>
              <a:ext cx="6830642" cy="10980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Used for quantitative data analysis</a:t>
              </a:r>
              <a:endPara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34"/>
            <p:cNvSpPr/>
            <p:nvPr/>
          </p:nvSpPr>
          <p:spPr>
            <a:xfrm>
              <a:off x="0" y="1582918"/>
              <a:ext cx="6949440" cy="1216800"/>
            </a:xfrm>
            <a:prstGeom prst="roundRect">
              <a:avLst>
                <a:gd fmla="val 16667" name="adj"/>
              </a:avLst>
            </a:prstGeom>
            <a:solidFill>
              <a:srgbClr val="F2823E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34"/>
            <p:cNvSpPr txBox="1"/>
            <p:nvPr/>
          </p:nvSpPr>
          <p:spPr>
            <a:xfrm>
              <a:off x="59399" y="1642317"/>
              <a:ext cx="6830642" cy="10980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Can support budgeting, tracking and modelling</a:t>
              </a:r>
              <a:endPara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34"/>
            <p:cNvSpPr/>
            <p:nvPr/>
          </p:nvSpPr>
          <p:spPr>
            <a:xfrm>
              <a:off x="0" y="2986919"/>
              <a:ext cx="6949440" cy="1216800"/>
            </a:xfrm>
            <a:prstGeom prst="roundRect">
              <a:avLst>
                <a:gd fmla="val 16667" name="adj"/>
              </a:avLst>
            </a:prstGeom>
            <a:solidFill>
              <a:srgbClr val="EA6E3C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34"/>
            <p:cNvSpPr txBox="1"/>
            <p:nvPr/>
          </p:nvSpPr>
          <p:spPr>
            <a:xfrm>
              <a:off x="59399" y="3046318"/>
              <a:ext cx="6830642" cy="10980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Allows custom solutions for small-scale systems</a:t>
              </a:r>
              <a:endPara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34"/>
            <p:cNvSpPr/>
            <p:nvPr/>
          </p:nvSpPr>
          <p:spPr>
            <a:xfrm>
              <a:off x="0" y="4390919"/>
              <a:ext cx="6949440" cy="1216800"/>
            </a:xfrm>
            <a:prstGeom prst="roundRect">
              <a:avLst>
                <a:gd fmla="val 16667" name="adj"/>
              </a:avLst>
            </a:prstGeom>
            <a:solidFill>
              <a:srgbClr val="E15B3C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4"/>
            <p:cNvSpPr txBox="1"/>
            <p:nvPr/>
          </p:nvSpPr>
          <p:spPr>
            <a:xfrm>
              <a:off x="59399" y="4450318"/>
              <a:ext cx="6830642" cy="10980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Examples include Microsoft Excel and Google Sheets</a:t>
              </a:r>
              <a:endPara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Table" id="508" name="Google Shape;50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907" y="1852657"/>
            <a:ext cx="4628153" cy="4628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35"/>
          <p:cNvSpPr txBox="1"/>
          <p:nvPr>
            <p:ph type="title"/>
          </p:nvPr>
        </p:nvSpPr>
        <p:spPr>
          <a:xfrm>
            <a:off x="612649" y="548638"/>
            <a:ext cx="3493008" cy="5788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/>
              <a:t>Artificial Neural Networks</a:t>
            </a:r>
            <a:endParaRPr/>
          </a:p>
        </p:txBody>
      </p:sp>
      <p:grpSp>
        <p:nvGrpSpPr>
          <p:cNvPr id="515" name="Google Shape;515;p35"/>
          <p:cNvGrpSpPr/>
          <p:nvPr/>
        </p:nvGrpSpPr>
        <p:grpSpPr>
          <a:xfrm>
            <a:off x="4608246" y="551041"/>
            <a:ext cx="6949440" cy="5781834"/>
            <a:chOff x="0" y="2401"/>
            <a:chExt cx="6949440" cy="5781834"/>
          </a:xfrm>
        </p:grpSpPr>
        <p:sp>
          <p:nvSpPr>
            <p:cNvPr id="516" name="Google Shape;516;p35"/>
            <p:cNvSpPr/>
            <p:nvPr/>
          </p:nvSpPr>
          <p:spPr>
            <a:xfrm>
              <a:off x="0" y="2401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35"/>
            <p:cNvSpPr/>
            <p:nvPr/>
          </p:nvSpPr>
          <p:spPr>
            <a:xfrm>
              <a:off x="368211" y="276278"/>
              <a:ext cx="669475" cy="669475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35"/>
            <p:cNvSpPr/>
            <p:nvPr/>
          </p:nvSpPr>
          <p:spPr>
            <a:xfrm>
              <a:off x="1405898" y="2401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35"/>
            <p:cNvSpPr txBox="1"/>
            <p:nvPr/>
          </p:nvSpPr>
          <p:spPr>
            <a:xfrm>
              <a:off x="1405898" y="2401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Programs that learn from experience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35"/>
            <p:cNvSpPr/>
            <p:nvPr/>
          </p:nvSpPr>
          <p:spPr>
            <a:xfrm>
              <a:off x="0" y="1523937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35"/>
            <p:cNvSpPr/>
            <p:nvPr/>
          </p:nvSpPr>
          <p:spPr>
            <a:xfrm>
              <a:off x="368211" y="1797813"/>
              <a:ext cx="669475" cy="66947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35"/>
            <p:cNvSpPr/>
            <p:nvPr/>
          </p:nvSpPr>
          <p:spPr>
            <a:xfrm>
              <a:off x="1405898" y="152393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35"/>
            <p:cNvSpPr txBox="1"/>
            <p:nvPr/>
          </p:nvSpPr>
          <p:spPr>
            <a:xfrm>
              <a:off x="1405898" y="152393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Improve performance through machine learning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35"/>
            <p:cNvSpPr/>
            <p:nvPr/>
          </p:nvSpPr>
          <p:spPr>
            <a:xfrm>
              <a:off x="0" y="3045472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35"/>
            <p:cNvSpPr/>
            <p:nvPr/>
          </p:nvSpPr>
          <p:spPr>
            <a:xfrm>
              <a:off x="368211" y="3319348"/>
              <a:ext cx="669475" cy="66947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35"/>
            <p:cNvSpPr/>
            <p:nvPr/>
          </p:nvSpPr>
          <p:spPr>
            <a:xfrm>
              <a:off x="1405898" y="3045472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35"/>
            <p:cNvSpPr txBox="1"/>
            <p:nvPr/>
          </p:nvSpPr>
          <p:spPr>
            <a:xfrm>
              <a:off x="1405898" y="3045472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Used for automated insights and decision support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35"/>
            <p:cNvSpPr/>
            <p:nvPr/>
          </p:nvSpPr>
          <p:spPr>
            <a:xfrm>
              <a:off x="0" y="4567007"/>
              <a:ext cx="6949440" cy="1217228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35"/>
            <p:cNvSpPr/>
            <p:nvPr/>
          </p:nvSpPr>
          <p:spPr>
            <a:xfrm>
              <a:off x="368211" y="4840884"/>
              <a:ext cx="669475" cy="669475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35"/>
            <p:cNvSpPr/>
            <p:nvPr/>
          </p:nvSpPr>
          <p:spPr>
            <a:xfrm>
              <a:off x="1405898" y="456700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35"/>
            <p:cNvSpPr txBox="1"/>
            <p:nvPr/>
          </p:nvSpPr>
          <p:spPr>
            <a:xfrm>
              <a:off x="1405898" y="4567007"/>
              <a:ext cx="5543541" cy="121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800" lIns="128800" spcFirstLastPara="1" rIns="128800" wrap="square" tIns="128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Common in chatbots, recommendation systems and analytics</a:t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anillaVTI">
  <a:themeElements>
    <a:clrScheme name="Vanilla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anillaVTI">
  <a:themeElements>
    <a:clrScheme name="Vanilla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