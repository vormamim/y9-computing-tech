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6858000" cx="12192000"/>
  <p:notesSz cx="6858000" cy="9144000"/>
  <p:embeddedFontLst>
    <p:embeddedFont>
      <p:font typeface="Play"/>
      <p:regular r:id="rId13"/>
      <p:bold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gweCki8dP+J2+SJbeFSUd0THDG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F79A0B-BDB2-493C-B997-CDB4C3ABE1C2}">
  <a:tblStyle styleId="{F8F79A0B-BDB2-493C-B997-CDB4C3ABE1C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Play-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font" Target="fonts/Play-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7"/>
          <p:cNvSpPr/>
          <p:nvPr>
            <p:ph idx="2" type="pic"/>
          </p:nvPr>
        </p:nvSpPr>
        <p:spPr>
          <a:xfrm>
            <a:off x="5183188" y="987425"/>
            <a:ext cx="6172200" cy="4873625"/>
          </a:xfrm>
          <a:prstGeom prst="rect">
            <a:avLst/>
          </a:prstGeom>
          <a:noFill/>
          <a:ln>
            <a:noFill/>
          </a:ln>
        </p:spPr>
      </p:sp>
      <p:sp>
        <p:nvSpPr>
          <p:cNvPr id="64" name="Google Shape;64;p1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1"/>
          <p:cNvSpPr/>
          <p:nvPr/>
        </p:nvSpPr>
        <p:spPr>
          <a:xfrm>
            <a:off x="0" y="0"/>
            <a:ext cx="12188952"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Magnifying glass showing decling performance" id="85" name="Google Shape;85;p1"/>
          <p:cNvPicPr preferRelativeResize="0"/>
          <p:nvPr/>
        </p:nvPicPr>
        <p:blipFill rotWithShape="1">
          <a:blip r:embed="rId3">
            <a:alphaModFix amt="50000"/>
          </a:blip>
          <a:srcRect b="14498" l="0" r="-1" t="1210"/>
          <a:stretch/>
        </p:blipFill>
        <p:spPr>
          <a:xfrm>
            <a:off x="20" y="10"/>
            <a:ext cx="12188930" cy="6857990"/>
          </a:xfrm>
          <a:prstGeom prst="rect">
            <a:avLst/>
          </a:prstGeom>
          <a:noFill/>
          <a:ln>
            <a:noFill/>
          </a:ln>
        </p:spPr>
      </p:pic>
      <p:sp>
        <p:nvSpPr>
          <p:cNvPr id="86" name="Google Shape;86;p1"/>
          <p:cNvSpPr txBox="1"/>
          <p:nvPr>
            <p:ph type="ctrTitle"/>
          </p:nvPr>
        </p:nvSpPr>
        <p:spPr>
          <a:xfrm>
            <a:off x="1524000" y="1122363"/>
            <a:ext cx="9144000" cy="306324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600"/>
              <a:buFont typeface="Play"/>
              <a:buNone/>
            </a:pPr>
            <a:r>
              <a:rPr lang="en-GB" sz="6600">
                <a:solidFill>
                  <a:schemeClr val="lt1"/>
                </a:solidFill>
              </a:rPr>
              <a:t>SEEing Better Responses</a:t>
            </a:r>
            <a:endParaRPr/>
          </a:p>
        </p:txBody>
      </p:sp>
      <p:sp>
        <p:nvSpPr>
          <p:cNvPr id="87" name="Google Shape;87;p1"/>
          <p:cNvSpPr txBox="1"/>
          <p:nvPr>
            <p:ph idx="1" type="subTitle"/>
          </p:nvPr>
        </p:nvSpPr>
        <p:spPr>
          <a:xfrm>
            <a:off x="1527048" y="4599432"/>
            <a:ext cx="9144000" cy="153619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2400"/>
              <a:buNone/>
            </a:pPr>
            <a:r>
              <a:rPr lang="en-GB">
                <a:solidFill>
                  <a:schemeClr val="lt1"/>
                </a:solidFill>
              </a:rPr>
              <a:t>9 Computing Technology</a:t>
            </a:r>
            <a:endParaRPr/>
          </a:p>
        </p:txBody>
      </p:sp>
      <p:sp>
        <p:nvSpPr>
          <p:cNvPr id="88" name="Google Shape;88;p1"/>
          <p:cNvSpPr/>
          <p:nvPr/>
        </p:nvSpPr>
        <p:spPr>
          <a:xfrm>
            <a:off x="3974206" y="4368623"/>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4901"/>
            </a:srgbClr>
          </a:solidFill>
          <a:ln cap="rnd" cmpd="sng" w="44450">
            <a:solidFill>
              <a:schemeClr val="lt1">
                <a:alpha val="74901"/>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86"/>
                                        </p:tgtEl>
                                        <p:attrNameLst>
                                          <p:attrName>style.visibility</p:attrName>
                                        </p:attrNameLst>
                                      </p:cBhvr>
                                      <p:to>
                                        <p:strVal val="visible"/>
                                      </p:to>
                                    </p:set>
                                    <p:animEffect filter="fade" transition="in">
                                      <p:cBhvr>
                                        <p:cTn dur="400"/>
                                        <p:tgtEl>
                                          <p:spTgt spid="86"/>
                                        </p:tgtEl>
                                      </p:cBhvr>
                                    </p:animEffect>
                                  </p:childTnLst>
                                </p:cTn>
                              </p:par>
                              <p:par>
                                <p:cTn fill="hold" nodeType="withEffect" presetClass="entr" presetID="10" presetSubtype="0">
                                  <p:stCondLst>
                                    <p:cond delay="2000"/>
                                  </p:stCondLst>
                                  <p:childTnLst>
                                    <p:set>
                                      <p:cBhvr>
                                        <p:cTn dur="1" fill="hold">
                                          <p:stCondLst>
                                            <p:cond delay="0"/>
                                          </p:stCondLst>
                                        </p:cTn>
                                        <p:tgtEl>
                                          <p:spTgt spid="87">
                                            <p:txEl>
                                              <p:pRg end="0" st="0"/>
                                            </p:txEl>
                                          </p:spTgt>
                                        </p:tgtEl>
                                        <p:attrNameLst>
                                          <p:attrName>style.visibility</p:attrName>
                                        </p:attrNameLst>
                                      </p:cBhvr>
                                      <p:to>
                                        <p:strVal val="visible"/>
                                      </p:to>
                                    </p:set>
                                    <p:animEffect filter="fade" transition="in">
                                      <p:cBhvr>
                                        <p:cTn dur="400"/>
                                        <p:tgtEl>
                                          <p:spTgt spid="8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 name="Shape 92"/>
        <p:cNvGrpSpPr/>
        <p:nvPr/>
      </p:nvGrpSpPr>
      <p:grpSpPr>
        <a:xfrm>
          <a:off x="0" y="0"/>
          <a:ext cx="0" cy="0"/>
          <a:chOff x="0" y="0"/>
          <a:chExt cx="0" cy="0"/>
        </a:xfrm>
      </p:grpSpPr>
      <p:sp>
        <p:nvSpPr>
          <p:cNvPr id="93" name="Google Shape;93;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4" name="Google Shape;94;p2"/>
          <p:cNvSpPr txBox="1"/>
          <p:nvPr>
            <p:ph type="title"/>
          </p:nvPr>
        </p:nvSpPr>
        <p:spPr>
          <a:xfrm>
            <a:off x="841248" y="256032"/>
            <a:ext cx="10506456" cy="101498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GB"/>
              <a:t>SEE Model</a:t>
            </a:r>
            <a:endParaRPr/>
          </a:p>
        </p:txBody>
      </p:sp>
      <p:sp>
        <p:nvSpPr>
          <p:cNvPr id="95" name="Google Shape;95;p2"/>
          <p:cNvSpPr/>
          <p:nvPr/>
        </p:nvSpPr>
        <p:spPr>
          <a:xfrm>
            <a:off x="865953" y="1634502"/>
            <a:ext cx="10451592"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96" name="Google Shape;96;p2"/>
          <p:cNvSpPr/>
          <p:nvPr/>
        </p:nvSpPr>
        <p:spPr>
          <a:xfrm flipH="1" rot="10800000">
            <a:off x="841248" y="1538176"/>
            <a:ext cx="1873457" cy="10981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nvGrpSpPr>
          <p:cNvPr id="97" name="Google Shape;97;p2"/>
          <p:cNvGrpSpPr/>
          <p:nvPr/>
        </p:nvGrpSpPr>
        <p:grpSpPr>
          <a:xfrm>
            <a:off x="838200" y="1931714"/>
            <a:ext cx="10515600" cy="4346626"/>
            <a:chOff x="0" y="5448"/>
            <a:chExt cx="10515600" cy="4346626"/>
          </a:xfrm>
        </p:grpSpPr>
        <p:sp>
          <p:nvSpPr>
            <p:cNvPr id="98" name="Google Shape;98;p2"/>
            <p:cNvSpPr/>
            <p:nvPr/>
          </p:nvSpPr>
          <p:spPr>
            <a:xfrm>
              <a:off x="0" y="5448"/>
              <a:ext cx="10515600" cy="1325569"/>
            </a:xfrm>
            <a:prstGeom prst="roundRect">
              <a:avLst>
                <a:gd fmla="val 10000" name="adj"/>
              </a:avLst>
            </a:prstGeom>
            <a:solidFill>
              <a:srgbClr val="E971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400984" y="303702"/>
              <a:ext cx="729775" cy="729062"/>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1531744" y="5448"/>
              <a:ext cx="8408890" cy="132686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txBox="1"/>
            <p:nvPr/>
          </p:nvSpPr>
          <p:spPr>
            <a:xfrm>
              <a:off x="1531744" y="5448"/>
              <a:ext cx="8408890" cy="1326864"/>
            </a:xfrm>
            <a:prstGeom prst="rect">
              <a:avLst/>
            </a:prstGeom>
            <a:noFill/>
            <a:ln>
              <a:noFill/>
            </a:ln>
          </p:spPr>
          <p:txBody>
            <a:bodyPr anchorCtr="0" anchor="ctr" bIns="140425" lIns="140425" spcFirstLastPara="1" rIns="140425" wrap="square" tIns="140425">
              <a:noAutofit/>
            </a:bodyPr>
            <a:lstStyle/>
            <a:p>
              <a:pPr indent="0" lvl="0" marL="0" marR="0" rtl="0" algn="l">
                <a:lnSpc>
                  <a:spcPct val="90000"/>
                </a:lnSpc>
                <a:spcBef>
                  <a:spcPts val="0"/>
                </a:spcBef>
                <a:spcAft>
                  <a:spcPts val="0"/>
                </a:spcAft>
                <a:buClr>
                  <a:schemeClr val="dk1"/>
                </a:buClr>
                <a:buSzPts val="1800"/>
                <a:buFont typeface="Arial"/>
                <a:buNone/>
              </a:pPr>
              <a:r>
                <a:rPr b="1" i="0" lang="en-GB" sz="1800" u="none" cap="none" strike="noStrike">
                  <a:solidFill>
                    <a:schemeClr val="lt1"/>
                  </a:solidFill>
                  <a:latin typeface="Arial"/>
                  <a:ea typeface="Arial"/>
                  <a:cs typeface="Arial"/>
                  <a:sym typeface="Arial"/>
                </a:rPr>
                <a:t>State: </a:t>
              </a:r>
              <a:r>
                <a:rPr b="0" i="0" lang="en-GB" sz="1800" u="none" cap="none" strike="noStrike">
                  <a:solidFill>
                    <a:schemeClr val="lt1"/>
                  </a:solidFill>
                  <a:latin typeface="Arial"/>
                  <a:ea typeface="Arial"/>
                  <a:cs typeface="Arial"/>
                  <a:sym typeface="Arial"/>
                </a:rPr>
                <a:t>Your direct answer to the question. It is usually one clear sentence that gets straight to the main point or idea. This shows the marker you know exactly what the question is asking and you’re focused on responding to it.</a:t>
              </a:r>
              <a:endParaRPr b="0" i="0" sz="1800" u="none" cap="none" strike="noStrike">
                <a:solidFill>
                  <a:schemeClr val="lt1"/>
                </a:solidFill>
                <a:latin typeface="Arial"/>
                <a:ea typeface="Arial"/>
                <a:cs typeface="Arial"/>
                <a:sym typeface="Arial"/>
              </a:endParaRPr>
            </a:p>
          </p:txBody>
        </p:sp>
        <p:sp>
          <p:nvSpPr>
            <p:cNvPr id="102" name="Google Shape;102;p2"/>
            <p:cNvSpPr/>
            <p:nvPr/>
          </p:nvSpPr>
          <p:spPr>
            <a:xfrm>
              <a:off x="0" y="1515329"/>
              <a:ext cx="10515600" cy="1325569"/>
            </a:xfrm>
            <a:prstGeom prst="roundRect">
              <a:avLst>
                <a:gd fmla="val 10000" name="adj"/>
              </a:avLst>
            </a:prstGeom>
            <a:solidFill>
              <a:srgbClr val="176B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400984" y="1813582"/>
              <a:ext cx="729775" cy="729062"/>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1531744" y="1515329"/>
              <a:ext cx="8408890" cy="132686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txBox="1"/>
            <p:nvPr/>
          </p:nvSpPr>
          <p:spPr>
            <a:xfrm>
              <a:off x="1531744" y="1515329"/>
              <a:ext cx="8408890" cy="1326864"/>
            </a:xfrm>
            <a:prstGeom prst="rect">
              <a:avLst/>
            </a:prstGeom>
            <a:noFill/>
            <a:ln>
              <a:noFill/>
            </a:ln>
          </p:spPr>
          <p:txBody>
            <a:bodyPr anchorCtr="0" anchor="ctr" bIns="140425" lIns="140425" spcFirstLastPara="1" rIns="140425" wrap="square" tIns="140425">
              <a:noAutofit/>
            </a:bodyPr>
            <a:lstStyle/>
            <a:p>
              <a:pPr indent="0" lvl="0" marL="0" marR="0" rtl="0" algn="l">
                <a:lnSpc>
                  <a:spcPct val="90000"/>
                </a:lnSpc>
                <a:spcBef>
                  <a:spcPts val="0"/>
                </a:spcBef>
                <a:spcAft>
                  <a:spcPts val="0"/>
                </a:spcAft>
                <a:buClr>
                  <a:schemeClr val="dk1"/>
                </a:buClr>
                <a:buSzPts val="1800"/>
                <a:buFont typeface="Arial"/>
                <a:buNone/>
              </a:pPr>
              <a:r>
                <a:rPr b="1" i="0" lang="en-GB" sz="1800" u="none" cap="none" strike="noStrike">
                  <a:solidFill>
                    <a:schemeClr val="lt1"/>
                  </a:solidFill>
                  <a:latin typeface="Arial"/>
                  <a:ea typeface="Arial"/>
                  <a:cs typeface="Arial"/>
                  <a:sym typeface="Arial"/>
                </a:rPr>
                <a:t>Explain: </a:t>
              </a:r>
              <a:r>
                <a:rPr b="0" i="0" lang="en-GB" sz="1800" u="none" cap="none" strike="noStrike">
                  <a:solidFill>
                    <a:schemeClr val="lt1"/>
                  </a:solidFill>
                  <a:latin typeface="Arial"/>
                  <a:ea typeface="Arial"/>
                  <a:cs typeface="Arial"/>
                  <a:sym typeface="Arial"/>
                </a:rPr>
                <a:t>Provides more detail about your statement. Here, you show your understanding by elaborating, giving reasons, or outlining processes and effects. The explanation shows you understand not just the facts, but the reasoning, mechanisms, or significance of your initial statement. It’s where you clarify ‘how’ and ‘why’.</a:t>
              </a:r>
              <a:endParaRPr b="0" i="0" sz="1800" u="none" cap="none" strike="noStrike">
                <a:solidFill>
                  <a:schemeClr val="lt1"/>
                </a:solidFill>
                <a:latin typeface="Arial"/>
                <a:ea typeface="Arial"/>
                <a:cs typeface="Arial"/>
                <a:sym typeface="Arial"/>
              </a:endParaRPr>
            </a:p>
          </p:txBody>
        </p:sp>
        <p:sp>
          <p:nvSpPr>
            <p:cNvPr id="106" name="Google Shape;106;p2"/>
            <p:cNvSpPr/>
            <p:nvPr/>
          </p:nvSpPr>
          <p:spPr>
            <a:xfrm>
              <a:off x="0" y="3025210"/>
              <a:ext cx="10515600" cy="1325569"/>
            </a:xfrm>
            <a:prstGeom prst="roundRect">
              <a:avLst>
                <a:gd fmla="val 10000" name="adj"/>
              </a:avLst>
            </a:prstGeom>
            <a:solidFill>
              <a:srgbClr val="0C9E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400984" y="3323463"/>
              <a:ext cx="729775" cy="729062"/>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1531744" y="3025210"/>
              <a:ext cx="8408890" cy="132686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txBox="1"/>
            <p:nvPr/>
          </p:nvSpPr>
          <p:spPr>
            <a:xfrm>
              <a:off x="1531744" y="3025210"/>
              <a:ext cx="8408890" cy="1326864"/>
            </a:xfrm>
            <a:prstGeom prst="rect">
              <a:avLst/>
            </a:prstGeom>
            <a:noFill/>
            <a:ln>
              <a:noFill/>
            </a:ln>
          </p:spPr>
          <p:txBody>
            <a:bodyPr anchorCtr="0" anchor="ctr" bIns="140425" lIns="140425" spcFirstLastPara="1" rIns="140425" wrap="square" tIns="140425">
              <a:noAutofit/>
            </a:bodyPr>
            <a:lstStyle/>
            <a:p>
              <a:pPr indent="0" lvl="0" marL="0" marR="0" rtl="0" algn="l">
                <a:lnSpc>
                  <a:spcPct val="90000"/>
                </a:lnSpc>
                <a:spcBef>
                  <a:spcPts val="0"/>
                </a:spcBef>
                <a:spcAft>
                  <a:spcPts val="0"/>
                </a:spcAft>
                <a:buClr>
                  <a:schemeClr val="dk1"/>
                </a:buClr>
                <a:buSzPts val="1800"/>
                <a:buFont typeface="Arial"/>
                <a:buNone/>
              </a:pPr>
              <a:r>
                <a:t/>
              </a:r>
              <a:endParaRPr b="1" i="0" sz="1800" u="none" cap="none" strike="noStrike">
                <a:solidFill>
                  <a:schemeClr val="lt1"/>
                </a:solidFill>
                <a:latin typeface="Arial"/>
                <a:ea typeface="Arial"/>
                <a:cs typeface="Arial"/>
                <a:sym typeface="Arial"/>
              </a:endParaRPr>
            </a:p>
            <a:p>
              <a:pPr indent="0" lvl="0" marL="0" marR="0" rtl="0" algn="l">
                <a:lnSpc>
                  <a:spcPct val="90000"/>
                </a:lnSpc>
                <a:spcBef>
                  <a:spcPts val="630"/>
                </a:spcBef>
                <a:spcAft>
                  <a:spcPts val="0"/>
                </a:spcAft>
                <a:buClr>
                  <a:schemeClr val="dk1"/>
                </a:buClr>
                <a:buSzPts val="1800"/>
                <a:buFont typeface="Arial"/>
                <a:buNone/>
              </a:pPr>
              <a:r>
                <a:rPr b="1" i="0" lang="en-GB" sz="1800" u="none" cap="none" strike="noStrike">
                  <a:solidFill>
                    <a:schemeClr val="lt1"/>
                  </a:solidFill>
                  <a:latin typeface="Arial"/>
                  <a:ea typeface="Arial"/>
                  <a:cs typeface="Arial"/>
                  <a:sym typeface="Arial"/>
                </a:rPr>
                <a:t>Example: </a:t>
              </a:r>
              <a:r>
                <a:rPr b="0" i="0" lang="en-GB" sz="1800" u="none" cap="none" strike="noStrike">
                  <a:solidFill>
                    <a:schemeClr val="lt1"/>
                  </a:solidFill>
                  <a:latin typeface="Arial"/>
                  <a:ea typeface="Arial"/>
                  <a:cs typeface="Arial"/>
                  <a:sym typeface="Arial"/>
                </a:rPr>
                <a:t>Illustrates your point in a practical, real-world, or scenario-based way. It shows markers you can apply your knowledge, not just recite definitions. Examples deepen your answer and make it more convincing. They provide evidence that your explanation is relevant and accurate.</a:t>
              </a:r>
              <a:br>
                <a:rPr b="0" i="0" lang="en-GB" sz="1800" u="none" cap="none" strike="noStrike">
                  <a:solidFill>
                    <a:schemeClr val="lt1"/>
                  </a:solidFill>
                  <a:latin typeface="Arial"/>
                  <a:ea typeface="Arial"/>
                  <a:cs typeface="Arial"/>
                  <a:sym typeface="Arial"/>
                </a:rPr>
              </a:br>
              <a:br>
                <a:rPr b="1" i="0" lang="en-GB" sz="1800" u="none" cap="none" strike="noStrike">
                  <a:solidFill>
                    <a:schemeClr val="lt1"/>
                  </a:solidFill>
                  <a:latin typeface="Arial"/>
                  <a:ea typeface="Arial"/>
                  <a:cs typeface="Arial"/>
                  <a:sym typeface="Arial"/>
                </a:rPr>
              </a:br>
              <a:endParaRPr b="0" i="0" sz="1800" u="none" cap="none" strike="noStrike">
                <a:solidFill>
                  <a:schemeClr val="lt1"/>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
        <p:nvSpPr>
          <p:cNvPr id="114" name="Google Shape;114;p3"/>
          <p:cNvSpPr/>
          <p:nvPr/>
        </p:nvSpPr>
        <p:spPr>
          <a:xfrm>
            <a:off x="0" y="1"/>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5" name="Google Shape;115;p3"/>
          <p:cNvSpPr/>
          <p:nvPr/>
        </p:nvSpPr>
        <p:spPr>
          <a:xfrm>
            <a:off x="305"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00" u="none" cap="none" strike="noStrike">
              <a:solidFill>
                <a:schemeClr val="lt1"/>
              </a:solidFill>
              <a:latin typeface="Arial"/>
              <a:ea typeface="Arial"/>
              <a:cs typeface="Arial"/>
              <a:sym typeface="Arial"/>
            </a:endParaRPr>
          </a:p>
        </p:txBody>
      </p:sp>
      <p:sp>
        <p:nvSpPr>
          <p:cNvPr id="116" name="Google Shape;116;p3"/>
          <p:cNvSpPr txBox="1"/>
          <p:nvPr>
            <p:ph type="title"/>
          </p:nvPr>
        </p:nvSpPr>
        <p:spPr>
          <a:xfrm>
            <a:off x="1179226" y="544422"/>
            <a:ext cx="9833548" cy="106680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Play"/>
              <a:buNone/>
            </a:pPr>
            <a:r>
              <a:rPr lang="en-GB" sz="3600">
                <a:solidFill>
                  <a:schemeClr val="dk2"/>
                </a:solidFill>
              </a:rPr>
              <a:t>Describe</a:t>
            </a:r>
            <a:endParaRPr/>
          </a:p>
        </p:txBody>
      </p:sp>
      <p:grpSp>
        <p:nvGrpSpPr>
          <p:cNvPr id="117" name="Google Shape;117;p3"/>
          <p:cNvGrpSpPr/>
          <p:nvPr/>
        </p:nvGrpSpPr>
        <p:grpSpPr>
          <a:xfrm>
            <a:off x="7867135" y="0"/>
            <a:ext cx="4324865" cy="2641149"/>
            <a:chOff x="6867015" y="-1"/>
            <a:chExt cx="5324985" cy="3251912"/>
          </a:xfrm>
        </p:grpSpPr>
        <p:sp>
          <p:nvSpPr>
            <p:cNvPr id="118" name="Google Shape;118;p3"/>
            <p:cNvSpPr/>
            <p:nvPr/>
          </p:nvSpPr>
          <p:spPr>
            <a:xfrm>
              <a:off x="6867015" y="-1"/>
              <a:ext cx="5324985" cy="3251912"/>
            </a:xfrm>
            <a:custGeom>
              <a:rect b="b" l="l" r="r" t="t"/>
              <a:pathLst>
                <a:path extrusionOk="0" h="3251912" w="5324985">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9" name="Google Shape;119;p3"/>
            <p:cNvSpPr/>
            <p:nvPr/>
          </p:nvSpPr>
          <p:spPr>
            <a:xfrm>
              <a:off x="6916467" y="-1"/>
              <a:ext cx="5275533" cy="2980757"/>
            </a:xfrm>
            <a:custGeom>
              <a:rect b="b" l="l" r="r" t="t"/>
              <a:pathLst>
                <a:path extrusionOk="0" h="2980757" w="5275533">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0" name="Google Shape;120;p3"/>
            <p:cNvSpPr/>
            <p:nvPr/>
          </p:nvSpPr>
          <p:spPr>
            <a:xfrm>
              <a:off x="6921214" y="-1"/>
              <a:ext cx="5270786" cy="2927775"/>
            </a:xfrm>
            <a:custGeom>
              <a:rect b="b" l="l" r="r" t="t"/>
              <a:pathLst>
                <a:path extrusionOk="0" h="2927775" w="5270786">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1" name="Google Shape;121;p3"/>
            <p:cNvSpPr/>
            <p:nvPr/>
          </p:nvSpPr>
          <p:spPr>
            <a:xfrm>
              <a:off x="6921214" y="-1"/>
              <a:ext cx="5270786" cy="2927775"/>
            </a:xfrm>
            <a:custGeom>
              <a:rect b="b" l="l" r="r" t="t"/>
              <a:pathLst>
                <a:path extrusionOk="0" h="2927775" w="5270786">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122" name="Google Shape;122;p3"/>
          <p:cNvSpPr txBox="1"/>
          <p:nvPr>
            <p:ph idx="1" type="body"/>
          </p:nvPr>
        </p:nvSpPr>
        <p:spPr>
          <a:xfrm>
            <a:off x="1179226" y="1926522"/>
            <a:ext cx="9833548" cy="406837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b="1" lang="en-GB" sz="1800">
                <a:highlight>
                  <a:srgbClr val="FFFF00"/>
                </a:highlight>
              </a:rPr>
              <a:t>Describe: </a:t>
            </a:r>
            <a:r>
              <a:rPr lang="en-GB" sz="1800">
                <a:highlight>
                  <a:srgbClr val="FFFF00"/>
                </a:highlight>
              </a:rPr>
              <a:t>Provide characteristics and features (NESA Definition)</a:t>
            </a:r>
            <a:endParaRPr/>
          </a:p>
          <a:p>
            <a:pPr indent="0" lvl="0" marL="0" rtl="0" algn="l">
              <a:lnSpc>
                <a:spcPct val="100000"/>
              </a:lnSpc>
              <a:spcBef>
                <a:spcPts val="1000"/>
              </a:spcBef>
              <a:spcAft>
                <a:spcPts val="0"/>
              </a:spcAft>
              <a:buClr>
                <a:schemeClr val="dk1"/>
              </a:buClr>
              <a:buSzPts val="1800"/>
              <a:buNone/>
            </a:pPr>
            <a:r>
              <a:t/>
            </a:r>
            <a:endParaRPr b="1" sz="1800"/>
          </a:p>
          <a:p>
            <a:pPr indent="0" lvl="0" marL="0" rtl="0" algn="l">
              <a:lnSpc>
                <a:spcPct val="100000"/>
              </a:lnSpc>
              <a:spcBef>
                <a:spcPts val="1000"/>
              </a:spcBef>
              <a:spcAft>
                <a:spcPts val="0"/>
              </a:spcAft>
              <a:buClr>
                <a:schemeClr val="dk1"/>
              </a:buClr>
              <a:buSzPts val="1800"/>
              <a:buNone/>
            </a:pPr>
            <a:r>
              <a:rPr b="1" lang="en-GB" sz="1800"/>
              <a:t>Describe components of an information system.</a:t>
            </a:r>
            <a:endParaRPr sz="1800">
              <a:solidFill>
                <a:schemeClr val="dk2"/>
              </a:solidFill>
            </a:endParaRPr>
          </a:p>
          <a:p>
            <a:pPr indent="0" lvl="0" marL="0" rtl="0" algn="l">
              <a:lnSpc>
                <a:spcPct val="90000"/>
              </a:lnSpc>
              <a:spcBef>
                <a:spcPts val="1000"/>
              </a:spcBef>
              <a:spcAft>
                <a:spcPts val="0"/>
              </a:spcAft>
              <a:buClr>
                <a:schemeClr val="dk1"/>
              </a:buClr>
              <a:buSzPts val="1800"/>
              <a:buNone/>
            </a:pPr>
            <a:br>
              <a:rPr lang="en-GB" sz="1800"/>
            </a:br>
            <a:r>
              <a:rPr lang="en-GB" sz="1800"/>
              <a:t>An information system is made up of five key components: hardware, software, data, people, and processes.</a:t>
            </a:r>
            <a:br>
              <a:rPr lang="en-GB" sz="1800"/>
            </a:br>
            <a:r>
              <a:rPr lang="en-GB" sz="1800"/>
              <a:t>Hardware refers to the physical devices like computers and servers. Software includes the programs and applications that run on the hardware. Data is the raw facts and figures that are processed. People are the users who interact with the system, including IT staff and end users. Processes are the procedures and rules that govern how data is collected, processed, and distributed within the system. For instance, a school's student management system uses hardware such as computers and servers, software like the student information program, data such as student names and grades, people including teachers and administrators, and processes like enrolment and reporting procedures.</a:t>
            </a:r>
            <a:endParaRPr/>
          </a:p>
          <a:p>
            <a:pPr indent="0" lvl="0" marL="0" rtl="0" algn="l">
              <a:lnSpc>
                <a:spcPct val="100000"/>
              </a:lnSpc>
              <a:spcBef>
                <a:spcPts val="1000"/>
              </a:spcBef>
              <a:spcAft>
                <a:spcPts val="0"/>
              </a:spcAft>
              <a:buClr>
                <a:schemeClr val="dk1"/>
              </a:buClr>
              <a:buSzPts val="1800"/>
              <a:buNone/>
            </a:pPr>
            <a:r>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8" name="Google Shape;128;p4"/>
          <p:cNvSpPr txBox="1"/>
          <p:nvPr>
            <p:ph type="title"/>
          </p:nvPr>
        </p:nvSpPr>
        <p:spPr>
          <a:xfrm>
            <a:off x="841248" y="256032"/>
            <a:ext cx="10506456" cy="101498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GB"/>
              <a:t>Describe</a:t>
            </a:r>
            <a:endParaRPr/>
          </a:p>
        </p:txBody>
      </p:sp>
      <p:sp>
        <p:nvSpPr>
          <p:cNvPr id="129" name="Google Shape;129;p4"/>
          <p:cNvSpPr/>
          <p:nvPr/>
        </p:nvSpPr>
        <p:spPr>
          <a:xfrm>
            <a:off x="865953" y="1634502"/>
            <a:ext cx="10451592"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0" name="Google Shape;130;p4"/>
          <p:cNvSpPr/>
          <p:nvPr/>
        </p:nvSpPr>
        <p:spPr>
          <a:xfrm flipH="1" rot="10800000">
            <a:off x="841248" y="1538176"/>
            <a:ext cx="1873457" cy="10981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pSp>
        <p:nvGrpSpPr>
          <p:cNvPr id="131" name="Google Shape;131;p4"/>
          <p:cNvGrpSpPr/>
          <p:nvPr/>
        </p:nvGrpSpPr>
        <p:grpSpPr>
          <a:xfrm>
            <a:off x="838200" y="1928765"/>
            <a:ext cx="10515600" cy="4352525"/>
            <a:chOff x="0" y="2499"/>
            <a:chExt cx="10515600" cy="4352525"/>
          </a:xfrm>
        </p:grpSpPr>
        <p:sp>
          <p:nvSpPr>
            <p:cNvPr id="132" name="Google Shape;132;p4"/>
            <p:cNvSpPr/>
            <p:nvPr/>
          </p:nvSpPr>
          <p:spPr>
            <a:xfrm>
              <a:off x="0" y="2499"/>
              <a:ext cx="10515600" cy="1278904"/>
            </a:xfrm>
            <a:prstGeom prst="roundRect">
              <a:avLst>
                <a:gd fmla="val 10000" name="adj"/>
              </a:avLst>
            </a:prstGeom>
            <a:solidFill>
              <a:srgbClr val="E971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386868" y="290253"/>
              <a:ext cx="704084" cy="703397"/>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1477821" y="2499"/>
              <a:ext cx="8841610" cy="128015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txBox="1"/>
            <p:nvPr/>
          </p:nvSpPr>
          <p:spPr>
            <a:xfrm>
              <a:off x="1477821" y="2499"/>
              <a:ext cx="8841610" cy="1280154"/>
            </a:xfrm>
            <a:prstGeom prst="rect">
              <a:avLst/>
            </a:prstGeom>
            <a:noFill/>
            <a:ln>
              <a:noFill/>
            </a:ln>
          </p:spPr>
          <p:txBody>
            <a:bodyPr anchorCtr="0" anchor="ctr" bIns="135475" lIns="135475" spcFirstLastPara="1" rIns="135475" wrap="square" tIns="135475">
              <a:noAutofit/>
            </a:bodyPr>
            <a:lstStyle/>
            <a:p>
              <a:pPr indent="0" lvl="0" marL="0" marR="0" rtl="0" algn="l">
                <a:lnSpc>
                  <a:spcPct val="90000"/>
                </a:lnSpc>
                <a:spcBef>
                  <a:spcPts val="0"/>
                </a:spcBef>
                <a:spcAft>
                  <a:spcPts val="0"/>
                </a:spcAft>
                <a:buClr>
                  <a:schemeClr val="dk1"/>
                </a:buClr>
                <a:buSzPts val="1800"/>
                <a:buFont typeface="Arial"/>
                <a:buNone/>
              </a:pPr>
              <a:r>
                <a:rPr b="1" i="0" lang="en-GB" sz="1800" u="sng" cap="none" strike="noStrike">
                  <a:solidFill>
                    <a:schemeClr val="lt1"/>
                  </a:solidFill>
                  <a:latin typeface="Arial"/>
                  <a:ea typeface="Arial"/>
                  <a:cs typeface="Arial"/>
                  <a:sym typeface="Arial"/>
                </a:rPr>
                <a:t>State:</a:t>
              </a:r>
              <a:r>
                <a:rPr b="1" i="0" lang="en-GB" sz="1800" u="none" cap="none" strike="noStrike">
                  <a:solidFill>
                    <a:schemeClr val="lt1"/>
                  </a:solidFill>
                  <a:latin typeface="Arial"/>
                  <a:ea typeface="Arial"/>
                  <a:cs typeface="Arial"/>
                  <a:sym typeface="Arial"/>
                </a:rPr>
                <a:t> </a:t>
              </a:r>
              <a:r>
                <a:rPr b="0" i="0" lang="en-GB" sz="1800" u="none" cap="none" strike="noStrike">
                  <a:solidFill>
                    <a:schemeClr val="lt1"/>
                  </a:solidFill>
                  <a:latin typeface="Arial"/>
                  <a:ea typeface="Arial"/>
                  <a:cs typeface="Arial"/>
                  <a:sym typeface="Arial"/>
                </a:rPr>
                <a:t>An information system is made up of five key components: hardware, software, data, people, and processes.</a:t>
              </a:r>
              <a:endParaRPr b="0" i="0" sz="1800" u="none" cap="none" strike="noStrike">
                <a:solidFill>
                  <a:schemeClr val="lt1"/>
                </a:solidFill>
                <a:latin typeface="Arial"/>
                <a:ea typeface="Arial"/>
                <a:cs typeface="Arial"/>
                <a:sym typeface="Arial"/>
              </a:endParaRPr>
            </a:p>
          </p:txBody>
        </p:sp>
        <p:sp>
          <p:nvSpPr>
            <p:cNvPr id="136" name="Google Shape;136;p4"/>
            <p:cNvSpPr/>
            <p:nvPr/>
          </p:nvSpPr>
          <p:spPr>
            <a:xfrm>
              <a:off x="0" y="1371384"/>
              <a:ext cx="10515600" cy="1622100"/>
            </a:xfrm>
            <a:prstGeom prst="roundRect">
              <a:avLst>
                <a:gd fmla="val 10000" name="adj"/>
              </a:avLst>
            </a:prstGeom>
            <a:solidFill>
              <a:srgbClr val="176B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386868" y="1826438"/>
              <a:ext cx="704084" cy="703397"/>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1477821" y="1538684"/>
              <a:ext cx="8841610" cy="128015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txBox="1"/>
            <p:nvPr/>
          </p:nvSpPr>
          <p:spPr>
            <a:xfrm>
              <a:off x="1477821" y="1538684"/>
              <a:ext cx="8841610" cy="1280154"/>
            </a:xfrm>
            <a:prstGeom prst="rect">
              <a:avLst/>
            </a:prstGeom>
            <a:noFill/>
            <a:ln>
              <a:noFill/>
            </a:ln>
          </p:spPr>
          <p:txBody>
            <a:bodyPr anchorCtr="0" anchor="ctr" bIns="135475" lIns="135475" spcFirstLastPara="1" rIns="135475" wrap="square" tIns="135475">
              <a:noAutofit/>
            </a:bodyPr>
            <a:lstStyle/>
            <a:p>
              <a:pPr indent="0" lvl="0" marL="0" marR="0" rtl="0" algn="l">
                <a:lnSpc>
                  <a:spcPct val="90000"/>
                </a:lnSpc>
                <a:spcBef>
                  <a:spcPts val="0"/>
                </a:spcBef>
                <a:spcAft>
                  <a:spcPts val="0"/>
                </a:spcAft>
                <a:buClr>
                  <a:schemeClr val="dk1"/>
                </a:buClr>
                <a:buSzPts val="1800"/>
                <a:buFont typeface="Arial"/>
                <a:buNone/>
              </a:pPr>
              <a:r>
                <a:rPr b="1" i="0" lang="en-GB" sz="1800" u="sng" cap="none" strike="noStrike">
                  <a:solidFill>
                    <a:schemeClr val="lt1"/>
                  </a:solidFill>
                  <a:latin typeface="Arial"/>
                  <a:ea typeface="Arial"/>
                  <a:cs typeface="Arial"/>
                  <a:sym typeface="Arial"/>
                </a:rPr>
                <a:t>Explain:</a:t>
              </a:r>
              <a:r>
                <a:rPr b="1" i="0" lang="en-GB" sz="1800" u="none" cap="none" strike="noStrike">
                  <a:solidFill>
                    <a:schemeClr val="lt1"/>
                  </a:solidFill>
                  <a:latin typeface="Arial"/>
                  <a:ea typeface="Arial"/>
                  <a:cs typeface="Arial"/>
                  <a:sym typeface="Arial"/>
                </a:rPr>
                <a:t> </a:t>
              </a:r>
              <a:r>
                <a:rPr b="0" i="0" lang="en-GB" sz="1800" u="none" cap="none" strike="noStrike">
                  <a:solidFill>
                    <a:schemeClr val="lt1"/>
                  </a:solidFill>
                  <a:latin typeface="Arial"/>
                  <a:ea typeface="Arial"/>
                  <a:cs typeface="Arial"/>
                  <a:sym typeface="Arial"/>
                </a:rPr>
                <a:t>Hardware refers to the physical devices like computers and servers. Software includes the programs and applications that run on the hardware. Data is the raw facts and figures that are processed. People are the users who interact with the system, including IT staff and end users. Processes are the procedures and rules that govern how data is collected, processed, and distributed within the system.</a:t>
              </a:r>
              <a:endParaRPr b="0" i="0" sz="1800" u="none" cap="none" strike="noStrike">
                <a:solidFill>
                  <a:schemeClr val="lt1"/>
                </a:solidFill>
                <a:latin typeface="Arial"/>
                <a:ea typeface="Arial"/>
                <a:cs typeface="Arial"/>
                <a:sym typeface="Arial"/>
              </a:endParaRPr>
            </a:p>
          </p:txBody>
        </p:sp>
        <p:sp>
          <p:nvSpPr>
            <p:cNvPr id="140" name="Google Shape;140;p4"/>
            <p:cNvSpPr/>
            <p:nvPr/>
          </p:nvSpPr>
          <p:spPr>
            <a:xfrm>
              <a:off x="0" y="3074870"/>
              <a:ext cx="10515600" cy="1278904"/>
            </a:xfrm>
            <a:prstGeom prst="roundRect">
              <a:avLst>
                <a:gd fmla="val 10000" name="adj"/>
              </a:avLst>
            </a:prstGeom>
            <a:solidFill>
              <a:srgbClr val="0C9E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386868" y="3362623"/>
              <a:ext cx="704084" cy="703397"/>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1477821" y="3074870"/>
              <a:ext cx="8841610" cy="128015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txBox="1"/>
            <p:nvPr/>
          </p:nvSpPr>
          <p:spPr>
            <a:xfrm>
              <a:off x="1477821" y="3074870"/>
              <a:ext cx="8841610" cy="1280154"/>
            </a:xfrm>
            <a:prstGeom prst="rect">
              <a:avLst/>
            </a:prstGeom>
            <a:noFill/>
            <a:ln>
              <a:noFill/>
            </a:ln>
          </p:spPr>
          <p:txBody>
            <a:bodyPr anchorCtr="0" anchor="ctr" bIns="135475" lIns="135475" spcFirstLastPara="1" rIns="135475" wrap="square" tIns="135475">
              <a:noAutofit/>
            </a:bodyPr>
            <a:lstStyle/>
            <a:p>
              <a:pPr indent="0" lvl="0" marL="0" marR="0" rtl="0" algn="l">
                <a:lnSpc>
                  <a:spcPct val="90000"/>
                </a:lnSpc>
                <a:spcBef>
                  <a:spcPts val="0"/>
                </a:spcBef>
                <a:spcAft>
                  <a:spcPts val="0"/>
                </a:spcAft>
                <a:buClr>
                  <a:schemeClr val="dk1"/>
                </a:buClr>
                <a:buSzPts val="1800"/>
                <a:buFont typeface="Arial"/>
                <a:buNone/>
              </a:pPr>
              <a:r>
                <a:rPr b="1" i="0" lang="en-GB" sz="1800" u="sng" cap="none" strike="noStrike">
                  <a:solidFill>
                    <a:schemeClr val="lt1"/>
                  </a:solidFill>
                  <a:latin typeface="Arial"/>
                  <a:ea typeface="Arial"/>
                  <a:cs typeface="Arial"/>
                  <a:sym typeface="Arial"/>
                </a:rPr>
                <a:t>Example:</a:t>
              </a:r>
              <a:r>
                <a:rPr b="1" i="0" lang="en-GB" sz="1800" u="none" cap="none" strike="noStrike">
                  <a:solidFill>
                    <a:schemeClr val="lt1"/>
                  </a:solidFill>
                  <a:latin typeface="Arial"/>
                  <a:ea typeface="Arial"/>
                  <a:cs typeface="Arial"/>
                  <a:sym typeface="Arial"/>
                </a:rPr>
                <a:t> </a:t>
              </a:r>
              <a:r>
                <a:rPr b="0" i="0" lang="en-GB" sz="1800" u="none" cap="none" strike="noStrike">
                  <a:solidFill>
                    <a:schemeClr val="lt1"/>
                  </a:solidFill>
                  <a:latin typeface="Arial"/>
                  <a:ea typeface="Arial"/>
                  <a:cs typeface="Arial"/>
                  <a:sym typeface="Arial"/>
                </a:rPr>
                <a:t>For instance, a school's student management system uses hardware such as computers and servers, software like the student information program, data such as student names and grades, people including teachers and administrators, and processes like enrolment and reporting procedures.</a:t>
              </a:r>
              <a:endParaRPr b="0" i="0" sz="1800" u="none" cap="none" strike="noStrike">
                <a:solidFill>
                  <a:schemeClr val="lt1"/>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 name="Shape 147"/>
        <p:cNvGrpSpPr/>
        <p:nvPr/>
      </p:nvGrpSpPr>
      <p:grpSpPr>
        <a:xfrm>
          <a:off x="0" y="0"/>
          <a:ext cx="0" cy="0"/>
          <a:chOff x="0" y="0"/>
          <a:chExt cx="0" cy="0"/>
        </a:xfrm>
      </p:grpSpPr>
      <p:sp>
        <p:nvSpPr>
          <p:cNvPr id="148" name="Google Shape;148;p5"/>
          <p:cNvSpPr/>
          <p:nvPr/>
        </p:nvSpPr>
        <p:spPr>
          <a:xfrm>
            <a:off x="0" y="1"/>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9" name="Google Shape;149;p5"/>
          <p:cNvSpPr/>
          <p:nvPr/>
        </p:nvSpPr>
        <p:spPr>
          <a:xfrm>
            <a:off x="305"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00" u="none" cap="none" strike="noStrike">
              <a:solidFill>
                <a:schemeClr val="lt1"/>
              </a:solidFill>
              <a:latin typeface="Arial"/>
              <a:ea typeface="Arial"/>
              <a:cs typeface="Arial"/>
              <a:sym typeface="Arial"/>
            </a:endParaRPr>
          </a:p>
        </p:txBody>
      </p:sp>
      <p:sp>
        <p:nvSpPr>
          <p:cNvPr id="150" name="Google Shape;150;p5"/>
          <p:cNvSpPr txBox="1"/>
          <p:nvPr>
            <p:ph type="title"/>
          </p:nvPr>
        </p:nvSpPr>
        <p:spPr>
          <a:xfrm>
            <a:off x="1179226" y="479248"/>
            <a:ext cx="9833548" cy="106680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Play"/>
              <a:buNone/>
            </a:pPr>
            <a:r>
              <a:rPr lang="en-GB" sz="3600">
                <a:solidFill>
                  <a:schemeClr val="dk2"/>
                </a:solidFill>
              </a:rPr>
              <a:t>Explain</a:t>
            </a:r>
            <a:endParaRPr/>
          </a:p>
        </p:txBody>
      </p:sp>
      <p:grpSp>
        <p:nvGrpSpPr>
          <p:cNvPr id="151" name="Google Shape;151;p5"/>
          <p:cNvGrpSpPr/>
          <p:nvPr/>
        </p:nvGrpSpPr>
        <p:grpSpPr>
          <a:xfrm>
            <a:off x="7867135" y="0"/>
            <a:ext cx="4324865" cy="2641149"/>
            <a:chOff x="6867015" y="-1"/>
            <a:chExt cx="5324985" cy="3251912"/>
          </a:xfrm>
        </p:grpSpPr>
        <p:sp>
          <p:nvSpPr>
            <p:cNvPr id="152" name="Google Shape;152;p5"/>
            <p:cNvSpPr/>
            <p:nvPr/>
          </p:nvSpPr>
          <p:spPr>
            <a:xfrm>
              <a:off x="6867015" y="-1"/>
              <a:ext cx="5324985" cy="3251912"/>
            </a:xfrm>
            <a:custGeom>
              <a:rect b="b" l="l" r="r" t="t"/>
              <a:pathLst>
                <a:path extrusionOk="0" h="3251912" w="5324985">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3" name="Google Shape;153;p5"/>
            <p:cNvSpPr/>
            <p:nvPr/>
          </p:nvSpPr>
          <p:spPr>
            <a:xfrm>
              <a:off x="6916467" y="-1"/>
              <a:ext cx="5275533" cy="2980757"/>
            </a:xfrm>
            <a:custGeom>
              <a:rect b="b" l="l" r="r" t="t"/>
              <a:pathLst>
                <a:path extrusionOk="0" h="2980757" w="5275533">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4" name="Google Shape;154;p5"/>
            <p:cNvSpPr/>
            <p:nvPr/>
          </p:nvSpPr>
          <p:spPr>
            <a:xfrm>
              <a:off x="6921214" y="-1"/>
              <a:ext cx="5270786" cy="2927775"/>
            </a:xfrm>
            <a:custGeom>
              <a:rect b="b" l="l" r="r" t="t"/>
              <a:pathLst>
                <a:path extrusionOk="0" h="2927775" w="5270786">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5" name="Google Shape;155;p5"/>
            <p:cNvSpPr/>
            <p:nvPr/>
          </p:nvSpPr>
          <p:spPr>
            <a:xfrm>
              <a:off x="6921214" y="-1"/>
              <a:ext cx="5270786" cy="2927775"/>
            </a:xfrm>
            <a:custGeom>
              <a:rect b="b" l="l" r="r" t="t"/>
              <a:pathLst>
                <a:path extrusionOk="0" h="2927775" w="5270786">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156" name="Google Shape;156;p5"/>
          <p:cNvSpPr txBox="1"/>
          <p:nvPr>
            <p:ph idx="1" type="body"/>
          </p:nvPr>
        </p:nvSpPr>
        <p:spPr>
          <a:xfrm>
            <a:off x="698015" y="1912562"/>
            <a:ext cx="11000721" cy="40455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GB" sz="1800">
                <a:highlight>
                  <a:srgbClr val="FFFF00"/>
                </a:highlight>
              </a:rPr>
              <a:t>Explain</a:t>
            </a:r>
            <a:r>
              <a:rPr lang="en-GB" sz="1800">
                <a:highlight>
                  <a:srgbClr val="FFFF00"/>
                </a:highlight>
              </a:rPr>
              <a:t>: Relate cause and effect; Make the relationships between things evident; Provide why and/or how (NESA definition)</a:t>
            </a:r>
            <a:endParaRPr/>
          </a:p>
          <a:p>
            <a:pPr indent="0" lvl="0" marL="0" rtl="0" algn="l">
              <a:lnSpc>
                <a:spcPct val="90000"/>
              </a:lnSpc>
              <a:spcBef>
                <a:spcPts val="1000"/>
              </a:spcBef>
              <a:spcAft>
                <a:spcPts val="0"/>
              </a:spcAft>
              <a:buClr>
                <a:schemeClr val="dk1"/>
              </a:buClr>
              <a:buSzPts val="1800"/>
              <a:buNone/>
            </a:pPr>
            <a:r>
              <a:t/>
            </a:r>
            <a:endParaRPr sz="1800"/>
          </a:p>
          <a:p>
            <a:pPr indent="0" lvl="0" marL="0" rtl="0" algn="l">
              <a:lnSpc>
                <a:spcPct val="110000"/>
              </a:lnSpc>
              <a:spcBef>
                <a:spcPts val="1000"/>
              </a:spcBef>
              <a:spcAft>
                <a:spcPts val="0"/>
              </a:spcAft>
              <a:buClr>
                <a:schemeClr val="dk1"/>
              </a:buClr>
              <a:buSzPts val="1800"/>
              <a:buNone/>
            </a:pPr>
            <a:r>
              <a:rPr b="1" lang="en-GB" sz="1800"/>
              <a:t>Explain the difference between data and information.</a:t>
            </a:r>
            <a:endParaRPr/>
          </a:p>
          <a:p>
            <a:pPr indent="0" lvl="0" marL="0" rtl="0" algn="l">
              <a:lnSpc>
                <a:spcPct val="110000"/>
              </a:lnSpc>
              <a:spcBef>
                <a:spcPts val="1000"/>
              </a:spcBef>
              <a:spcAft>
                <a:spcPts val="0"/>
              </a:spcAft>
              <a:buClr>
                <a:schemeClr val="dk1"/>
              </a:buClr>
              <a:buSzPts val="1800"/>
              <a:buNone/>
            </a:pPr>
            <a:r>
              <a:t/>
            </a:r>
            <a:endParaRPr b="1" sz="1800">
              <a:solidFill>
                <a:schemeClr val="dk2"/>
              </a:solidFill>
            </a:endParaRPr>
          </a:p>
          <a:p>
            <a:pPr indent="0" lvl="0" marL="0" rtl="0" algn="l">
              <a:lnSpc>
                <a:spcPct val="110000"/>
              </a:lnSpc>
              <a:spcBef>
                <a:spcPts val="1000"/>
              </a:spcBef>
              <a:spcAft>
                <a:spcPts val="0"/>
              </a:spcAft>
              <a:buClr>
                <a:schemeClr val="dk1"/>
              </a:buClr>
              <a:buSzPts val="1800"/>
              <a:buNone/>
            </a:pPr>
            <a:r>
              <a:rPr lang="en-GB" sz="1800"/>
              <a:t>Data and information are related but different concepts; data are raw facts, whereas information is processed data that is meaningful. Data consists of unorganised, unprocessed facts such as numbers, dates, and strings without context. Information is data that has been interpreted, organised, or structured to provide meaning and support decision-making. For example, a list of test scores (like 75, 88, 92) is data. When these scores are averaged to show the class average of 85, this result is information because it conveys useful meaning.</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GB"/>
              <a:t>Explain</a:t>
            </a:r>
            <a:endParaRPr/>
          </a:p>
        </p:txBody>
      </p:sp>
      <p:grpSp>
        <p:nvGrpSpPr>
          <p:cNvPr id="162" name="Google Shape;162;p6"/>
          <p:cNvGrpSpPr/>
          <p:nvPr/>
        </p:nvGrpSpPr>
        <p:grpSpPr>
          <a:xfrm>
            <a:off x="838200" y="2005102"/>
            <a:ext cx="10515600" cy="3992383"/>
            <a:chOff x="0" y="179477"/>
            <a:chExt cx="10515600" cy="3992383"/>
          </a:xfrm>
        </p:grpSpPr>
        <p:sp>
          <p:nvSpPr>
            <p:cNvPr id="163" name="Google Shape;163;p6"/>
            <p:cNvSpPr/>
            <p:nvPr/>
          </p:nvSpPr>
          <p:spPr>
            <a:xfrm>
              <a:off x="0" y="179477"/>
              <a:ext cx="10515600" cy="1286634"/>
            </a:xfrm>
            <a:prstGeom prst="roundRect">
              <a:avLst>
                <a:gd fmla="val 16667" name="adj"/>
              </a:avLst>
            </a:prstGeom>
            <a:solidFill>
              <a:srgbClr val="E9713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txBox="1"/>
            <p:nvPr/>
          </p:nvSpPr>
          <p:spPr>
            <a:xfrm>
              <a:off x="62808" y="242285"/>
              <a:ext cx="10389984" cy="1161018"/>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chemeClr val="lt1"/>
                </a:buClr>
                <a:buSzPts val="2300"/>
                <a:buFont typeface="Arial"/>
                <a:buNone/>
              </a:pPr>
              <a:r>
                <a:rPr b="1" i="0" lang="en-GB" sz="2300" u="sng" cap="none" strike="noStrike">
                  <a:solidFill>
                    <a:schemeClr val="lt1"/>
                  </a:solidFill>
                  <a:latin typeface="Arial"/>
                  <a:ea typeface="Arial"/>
                  <a:cs typeface="Arial"/>
                  <a:sym typeface="Arial"/>
                </a:rPr>
                <a:t>State:</a:t>
              </a:r>
              <a:r>
                <a:rPr b="1" i="0" lang="en-GB" sz="2300" u="none" cap="none" strike="noStrike">
                  <a:solidFill>
                    <a:schemeClr val="lt1"/>
                  </a:solidFill>
                  <a:latin typeface="Arial"/>
                  <a:ea typeface="Arial"/>
                  <a:cs typeface="Arial"/>
                  <a:sym typeface="Arial"/>
                </a:rPr>
                <a:t> </a:t>
              </a:r>
              <a:r>
                <a:rPr b="0" i="0" lang="en-GB" sz="2300" u="none" cap="none" strike="noStrike">
                  <a:solidFill>
                    <a:schemeClr val="lt1"/>
                  </a:solidFill>
                  <a:latin typeface="Arial"/>
                  <a:ea typeface="Arial"/>
                  <a:cs typeface="Arial"/>
                  <a:sym typeface="Arial"/>
                </a:rPr>
                <a:t>Data and information are related but different concepts; data are raw facts, whereas information is processed data that is meaningful.</a:t>
              </a:r>
              <a:endParaRPr b="0" i="0" sz="2300" u="none" cap="none" strike="noStrike">
                <a:solidFill>
                  <a:schemeClr val="lt1"/>
                </a:solidFill>
                <a:latin typeface="Arial"/>
                <a:ea typeface="Arial"/>
                <a:cs typeface="Arial"/>
                <a:sym typeface="Arial"/>
              </a:endParaRPr>
            </a:p>
          </p:txBody>
        </p:sp>
        <p:sp>
          <p:nvSpPr>
            <p:cNvPr id="165" name="Google Shape;165;p6"/>
            <p:cNvSpPr/>
            <p:nvPr/>
          </p:nvSpPr>
          <p:spPr>
            <a:xfrm>
              <a:off x="0" y="1532351"/>
              <a:ext cx="10515600" cy="1286634"/>
            </a:xfrm>
            <a:prstGeom prst="roundRect">
              <a:avLst>
                <a:gd fmla="val 16667" name="adj"/>
              </a:avLst>
            </a:prstGeom>
            <a:solidFill>
              <a:srgbClr val="176B2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txBox="1"/>
            <p:nvPr/>
          </p:nvSpPr>
          <p:spPr>
            <a:xfrm>
              <a:off x="62808" y="1595159"/>
              <a:ext cx="10389984" cy="1161018"/>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chemeClr val="lt1"/>
                </a:buClr>
                <a:buSzPts val="2300"/>
                <a:buFont typeface="Arial"/>
                <a:buNone/>
              </a:pPr>
              <a:r>
                <a:rPr b="1" i="0" lang="en-GB" sz="2300" u="sng" cap="none" strike="noStrike">
                  <a:solidFill>
                    <a:schemeClr val="lt1"/>
                  </a:solidFill>
                  <a:latin typeface="Arial"/>
                  <a:ea typeface="Arial"/>
                  <a:cs typeface="Arial"/>
                  <a:sym typeface="Arial"/>
                </a:rPr>
                <a:t>Explain:</a:t>
              </a:r>
              <a:r>
                <a:rPr b="1" i="0" lang="en-GB" sz="2300" u="none" cap="none" strike="noStrike">
                  <a:solidFill>
                    <a:schemeClr val="lt1"/>
                  </a:solidFill>
                  <a:latin typeface="Arial"/>
                  <a:ea typeface="Arial"/>
                  <a:cs typeface="Arial"/>
                  <a:sym typeface="Arial"/>
                </a:rPr>
                <a:t> </a:t>
              </a:r>
              <a:r>
                <a:rPr b="0" i="0" lang="en-GB" sz="2300" u="none" cap="none" strike="noStrike">
                  <a:solidFill>
                    <a:schemeClr val="lt1"/>
                  </a:solidFill>
                  <a:latin typeface="Arial"/>
                  <a:ea typeface="Arial"/>
                  <a:cs typeface="Arial"/>
                  <a:sym typeface="Arial"/>
                </a:rPr>
                <a:t>Data consists of unorganised, unprocessed facts such as numbers, dates, and strings without context. Information is data that has been interpreted, organised, or structured to provide meaning and support decision-making.</a:t>
              </a:r>
              <a:endParaRPr b="0" i="0" sz="2300" u="none" cap="none" strike="noStrike">
                <a:solidFill>
                  <a:schemeClr val="lt1"/>
                </a:solidFill>
                <a:latin typeface="Arial"/>
                <a:ea typeface="Arial"/>
                <a:cs typeface="Arial"/>
                <a:sym typeface="Arial"/>
              </a:endParaRPr>
            </a:p>
          </p:txBody>
        </p:sp>
        <p:sp>
          <p:nvSpPr>
            <p:cNvPr id="167" name="Google Shape;167;p6"/>
            <p:cNvSpPr/>
            <p:nvPr/>
          </p:nvSpPr>
          <p:spPr>
            <a:xfrm>
              <a:off x="0" y="2885226"/>
              <a:ext cx="10515600" cy="1286634"/>
            </a:xfrm>
            <a:prstGeom prst="roundRect">
              <a:avLst>
                <a:gd fmla="val 16667" name="adj"/>
              </a:avLst>
            </a:prstGeom>
            <a:solidFill>
              <a:srgbClr val="0C9ED5"/>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txBox="1"/>
            <p:nvPr/>
          </p:nvSpPr>
          <p:spPr>
            <a:xfrm>
              <a:off x="62808" y="2948034"/>
              <a:ext cx="10389984" cy="1161018"/>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chemeClr val="lt1"/>
                </a:buClr>
                <a:buSzPts val="2300"/>
                <a:buFont typeface="Arial"/>
                <a:buNone/>
              </a:pPr>
              <a:r>
                <a:rPr b="1" i="0" lang="en-GB" sz="2300" u="sng" cap="none" strike="noStrike">
                  <a:solidFill>
                    <a:schemeClr val="lt1"/>
                  </a:solidFill>
                  <a:latin typeface="Arial"/>
                  <a:ea typeface="Arial"/>
                  <a:cs typeface="Arial"/>
                  <a:sym typeface="Arial"/>
                </a:rPr>
                <a:t>Example:</a:t>
              </a:r>
              <a:r>
                <a:rPr b="1" i="0" lang="en-GB" sz="2300" u="none" cap="none" strike="noStrike">
                  <a:solidFill>
                    <a:schemeClr val="lt1"/>
                  </a:solidFill>
                  <a:latin typeface="Arial"/>
                  <a:ea typeface="Arial"/>
                  <a:cs typeface="Arial"/>
                  <a:sym typeface="Arial"/>
                </a:rPr>
                <a:t> </a:t>
              </a:r>
              <a:r>
                <a:rPr b="0" i="0" lang="en-GB" sz="2300" u="none" cap="none" strike="noStrike">
                  <a:solidFill>
                    <a:schemeClr val="lt1"/>
                  </a:solidFill>
                  <a:latin typeface="Arial"/>
                  <a:ea typeface="Arial"/>
                  <a:cs typeface="Arial"/>
                  <a:sym typeface="Arial"/>
                </a:rPr>
                <a:t>For example, a list of test scores (like 75, 88, 92) is data. When these scores are averaged to show the class average of 85, this result is information because it conveys useful meaning.</a:t>
              </a:r>
              <a:endParaRPr b="0" i="0" sz="2300" u="none" cap="none" strike="noStrike">
                <a:solidFill>
                  <a:schemeClr val="lt1"/>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2" name="Shape 172"/>
        <p:cNvGrpSpPr/>
        <p:nvPr/>
      </p:nvGrpSpPr>
      <p:grpSpPr>
        <a:xfrm>
          <a:off x="0" y="0"/>
          <a:ext cx="0" cy="0"/>
          <a:chOff x="0" y="0"/>
          <a:chExt cx="0" cy="0"/>
        </a:xfrm>
      </p:grpSpPr>
      <p:sp>
        <p:nvSpPr>
          <p:cNvPr id="173" name="Google Shape;173;p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4" name="Google Shape;174;p7"/>
          <p:cNvSpPr txBox="1"/>
          <p:nvPr>
            <p:ph type="title"/>
          </p:nvPr>
        </p:nvSpPr>
        <p:spPr>
          <a:xfrm>
            <a:off x="841248" y="256032"/>
            <a:ext cx="10506456" cy="101498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GB"/>
              <a:t>Simple Explanation</a:t>
            </a:r>
            <a:endParaRPr/>
          </a:p>
        </p:txBody>
      </p:sp>
      <p:sp>
        <p:nvSpPr>
          <p:cNvPr id="175" name="Google Shape;175;p7"/>
          <p:cNvSpPr/>
          <p:nvPr/>
        </p:nvSpPr>
        <p:spPr>
          <a:xfrm>
            <a:off x="865953" y="1634502"/>
            <a:ext cx="10451592"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76" name="Google Shape;176;p7"/>
          <p:cNvSpPr/>
          <p:nvPr/>
        </p:nvSpPr>
        <p:spPr>
          <a:xfrm flipH="1" rot="10800000">
            <a:off x="841248" y="1538176"/>
            <a:ext cx="1873457" cy="10981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graphicFrame>
        <p:nvGraphicFramePr>
          <p:cNvPr id="177" name="Google Shape;177;p7"/>
          <p:cNvGraphicFramePr/>
          <p:nvPr/>
        </p:nvGraphicFramePr>
        <p:xfrm>
          <a:off x="1819081" y="1926266"/>
          <a:ext cx="3000000" cy="3000000"/>
        </p:xfrm>
        <a:graphic>
          <a:graphicData uri="http://schemas.openxmlformats.org/drawingml/2006/table">
            <a:tbl>
              <a:tblPr>
                <a:noFill/>
                <a:tableStyleId>{F8F79A0B-BDB2-493C-B997-CDB4C3ABE1C2}</a:tableStyleId>
              </a:tblPr>
              <a:tblGrid>
                <a:gridCol w="1990425"/>
                <a:gridCol w="2172925"/>
                <a:gridCol w="2172925"/>
                <a:gridCol w="2217550"/>
              </a:tblGrid>
              <a:tr h="317800">
                <a:tc>
                  <a:txBody>
                    <a:bodyPr/>
                    <a:lstStyle/>
                    <a:p>
                      <a:pPr indent="0" lvl="0" marL="0" marR="0" rtl="0" algn="l">
                        <a:spcBef>
                          <a:spcPts val="0"/>
                        </a:spcBef>
                        <a:spcAft>
                          <a:spcPts val="0"/>
                        </a:spcAft>
                        <a:buClr>
                          <a:srgbClr val="FFFFFF"/>
                        </a:buClr>
                        <a:buSzPts val="1500"/>
                        <a:buFont typeface="Arial"/>
                        <a:buNone/>
                      </a:pPr>
                      <a:r>
                        <a:rPr lang="en-GB" sz="1500" u="none" cap="none" strike="noStrike">
                          <a:solidFill>
                            <a:srgbClr val="FFFFFF"/>
                          </a:solidFill>
                        </a:rPr>
                        <a:t>Element</a:t>
                      </a:r>
                      <a:endParaRPr/>
                    </a:p>
                  </a:txBody>
                  <a:tcPr marT="26250" marB="26250" marR="83975" marL="83975" anchor="ctr">
                    <a:lnL cap="flat" cmpd="sng" w="12700">
                      <a:solidFill>
                        <a:srgbClr val="E5E7EB"/>
                      </a:solidFill>
                      <a:prstDash val="solid"/>
                      <a:round/>
                      <a:headEnd len="sm" w="sm" type="none"/>
                      <a:tailEnd len="sm" w="sm" type="none"/>
                    </a:lnL>
                    <a:lnR cap="flat" cmpd="sng" w="12700">
                      <a:solidFill>
                        <a:srgbClr val="E5E7EB"/>
                      </a:solidFill>
                      <a:prstDash val="solid"/>
                      <a:round/>
                      <a:headEnd len="sm" w="sm" type="none"/>
                      <a:tailEnd len="sm" w="sm" type="none"/>
                    </a:lnR>
                    <a:lnT cap="flat" cmpd="sng" w="12700">
                      <a:solidFill>
                        <a:srgbClr val="E5E7EB"/>
                      </a:solidFill>
                      <a:prstDash val="solid"/>
                      <a:round/>
                      <a:headEnd len="sm" w="sm" type="none"/>
                      <a:tailEnd len="sm" w="sm" type="none"/>
                    </a:lnT>
                    <a:lnB cap="flat" cmpd="sng" w="12700">
                      <a:solidFill>
                        <a:srgbClr val="E5E7EB"/>
                      </a:solidFill>
                      <a:prstDash val="solid"/>
                      <a:round/>
                      <a:headEnd len="sm" w="sm" type="none"/>
                      <a:tailEnd len="sm" w="sm" type="none"/>
                    </a:lnB>
                    <a:solidFill>
                      <a:srgbClr val="3E68E6"/>
                    </a:solidFill>
                  </a:tcPr>
                </a:tc>
                <a:tc>
                  <a:txBody>
                    <a:bodyPr/>
                    <a:lstStyle/>
                    <a:p>
                      <a:pPr indent="0" lvl="0" marL="0" marR="0" rtl="0" algn="l">
                        <a:spcBef>
                          <a:spcPts val="0"/>
                        </a:spcBef>
                        <a:spcAft>
                          <a:spcPts val="0"/>
                        </a:spcAft>
                        <a:buClr>
                          <a:srgbClr val="FFFFFF"/>
                        </a:buClr>
                        <a:buSzPts val="1500"/>
                        <a:buFont typeface="Arial"/>
                        <a:buNone/>
                      </a:pPr>
                      <a:r>
                        <a:rPr lang="en-GB" sz="1500" u="none" cap="none" strike="noStrike">
                          <a:solidFill>
                            <a:srgbClr val="FFFFFF"/>
                          </a:solidFill>
                        </a:rPr>
                        <a:t>Meaning</a:t>
                      </a:r>
                      <a:endParaRPr/>
                    </a:p>
                  </a:txBody>
                  <a:tcPr marT="26250" marB="26250" marR="83975" marL="83975" anchor="ctr">
                    <a:lnL cap="flat" cmpd="sng" w="12700">
                      <a:solidFill>
                        <a:srgbClr val="E5E7EB"/>
                      </a:solidFill>
                      <a:prstDash val="solid"/>
                      <a:round/>
                      <a:headEnd len="sm" w="sm" type="none"/>
                      <a:tailEnd len="sm" w="sm" type="none"/>
                    </a:lnL>
                    <a:lnR cap="flat" cmpd="sng" w="12700">
                      <a:solidFill>
                        <a:srgbClr val="E5E7EB"/>
                      </a:solidFill>
                      <a:prstDash val="solid"/>
                      <a:round/>
                      <a:headEnd len="sm" w="sm" type="none"/>
                      <a:tailEnd len="sm" w="sm" type="none"/>
                    </a:lnR>
                    <a:lnT cap="flat" cmpd="sng" w="12700">
                      <a:solidFill>
                        <a:srgbClr val="E5E7EB"/>
                      </a:solidFill>
                      <a:prstDash val="solid"/>
                      <a:round/>
                      <a:headEnd len="sm" w="sm" type="none"/>
                      <a:tailEnd len="sm" w="sm" type="none"/>
                    </a:lnT>
                    <a:lnB cap="flat" cmpd="sng" w="12700">
                      <a:solidFill>
                        <a:srgbClr val="E5E7EB"/>
                      </a:solidFill>
                      <a:prstDash val="solid"/>
                      <a:round/>
                      <a:headEnd len="sm" w="sm" type="none"/>
                      <a:tailEnd len="sm" w="sm" type="none"/>
                    </a:lnB>
                    <a:solidFill>
                      <a:srgbClr val="3E68E6"/>
                    </a:solidFill>
                  </a:tcPr>
                </a:tc>
                <a:tc>
                  <a:txBody>
                    <a:bodyPr/>
                    <a:lstStyle/>
                    <a:p>
                      <a:pPr indent="0" lvl="0" marL="0" marR="0" rtl="0" algn="l">
                        <a:spcBef>
                          <a:spcPts val="0"/>
                        </a:spcBef>
                        <a:spcAft>
                          <a:spcPts val="0"/>
                        </a:spcAft>
                        <a:buClr>
                          <a:srgbClr val="FFFFFF"/>
                        </a:buClr>
                        <a:buSzPts val="1500"/>
                        <a:buFont typeface="Arial"/>
                        <a:buNone/>
                      </a:pPr>
                      <a:r>
                        <a:rPr lang="en-GB" sz="1500" u="none" cap="none" strike="noStrike">
                          <a:solidFill>
                            <a:srgbClr val="FFFFFF"/>
                          </a:solidFill>
                        </a:rPr>
                        <a:t>Role in Paragraph</a:t>
                      </a:r>
                      <a:endParaRPr/>
                    </a:p>
                  </a:txBody>
                  <a:tcPr marT="26250" marB="26250" marR="83975" marL="83975" anchor="ctr">
                    <a:lnL cap="flat" cmpd="sng" w="12700">
                      <a:solidFill>
                        <a:srgbClr val="E5E7EB"/>
                      </a:solidFill>
                      <a:prstDash val="solid"/>
                      <a:round/>
                      <a:headEnd len="sm" w="sm" type="none"/>
                      <a:tailEnd len="sm" w="sm" type="none"/>
                    </a:lnL>
                    <a:lnR cap="flat" cmpd="sng" w="12700">
                      <a:solidFill>
                        <a:srgbClr val="E5E7EB"/>
                      </a:solidFill>
                      <a:prstDash val="solid"/>
                      <a:round/>
                      <a:headEnd len="sm" w="sm" type="none"/>
                      <a:tailEnd len="sm" w="sm" type="none"/>
                    </a:lnR>
                    <a:lnT cap="flat" cmpd="sng" w="12700">
                      <a:solidFill>
                        <a:srgbClr val="E5E7EB"/>
                      </a:solidFill>
                      <a:prstDash val="solid"/>
                      <a:round/>
                      <a:headEnd len="sm" w="sm" type="none"/>
                      <a:tailEnd len="sm" w="sm" type="none"/>
                    </a:lnT>
                    <a:lnB cap="flat" cmpd="sng" w="12700">
                      <a:solidFill>
                        <a:srgbClr val="E5E7EB"/>
                      </a:solidFill>
                      <a:prstDash val="solid"/>
                      <a:round/>
                      <a:headEnd len="sm" w="sm" type="none"/>
                      <a:tailEnd len="sm" w="sm" type="none"/>
                    </a:lnB>
                    <a:solidFill>
                      <a:srgbClr val="3E68E6"/>
                    </a:solidFill>
                  </a:tcPr>
                </a:tc>
                <a:tc>
                  <a:txBody>
                    <a:bodyPr/>
                    <a:lstStyle/>
                    <a:p>
                      <a:pPr indent="0" lvl="0" marL="0" marR="0" rtl="0" algn="l">
                        <a:spcBef>
                          <a:spcPts val="0"/>
                        </a:spcBef>
                        <a:spcAft>
                          <a:spcPts val="0"/>
                        </a:spcAft>
                        <a:buClr>
                          <a:srgbClr val="FFFFFF"/>
                        </a:buClr>
                        <a:buSzPts val="1500"/>
                        <a:buFont typeface="Arial"/>
                        <a:buNone/>
                      </a:pPr>
                      <a:r>
                        <a:rPr lang="en-GB" sz="1500" u="none" cap="none" strike="noStrike">
                          <a:solidFill>
                            <a:srgbClr val="FFFFFF"/>
                          </a:solidFill>
                        </a:rPr>
                        <a:t>Example Sentence</a:t>
                      </a:r>
                      <a:endParaRPr/>
                    </a:p>
                  </a:txBody>
                  <a:tcPr marT="26250" marB="26250" marR="83975" marL="83975" anchor="ctr">
                    <a:lnL cap="flat" cmpd="sng" w="12700">
                      <a:solidFill>
                        <a:srgbClr val="E5E7EB"/>
                      </a:solidFill>
                      <a:prstDash val="solid"/>
                      <a:round/>
                      <a:headEnd len="sm" w="sm" type="none"/>
                      <a:tailEnd len="sm" w="sm" type="none"/>
                    </a:lnL>
                    <a:lnR cap="flat" cmpd="sng" w="12700">
                      <a:solidFill>
                        <a:srgbClr val="E5E7EB"/>
                      </a:solidFill>
                      <a:prstDash val="solid"/>
                      <a:round/>
                      <a:headEnd len="sm" w="sm" type="none"/>
                      <a:tailEnd len="sm" w="sm" type="none"/>
                    </a:lnR>
                    <a:lnT cap="flat" cmpd="sng" w="12700">
                      <a:solidFill>
                        <a:srgbClr val="E5E7EB"/>
                      </a:solidFill>
                      <a:prstDash val="solid"/>
                      <a:round/>
                      <a:headEnd len="sm" w="sm" type="none"/>
                      <a:tailEnd len="sm" w="sm" type="none"/>
                    </a:lnT>
                    <a:lnB cap="flat" cmpd="sng" w="12700">
                      <a:solidFill>
                        <a:srgbClr val="E5E7EB"/>
                      </a:solidFill>
                      <a:prstDash val="solid"/>
                      <a:round/>
                      <a:headEnd len="sm" w="sm" type="none"/>
                      <a:tailEnd len="sm" w="sm" type="none"/>
                    </a:lnB>
                    <a:solidFill>
                      <a:srgbClr val="3E68E6"/>
                    </a:solidFill>
                  </a:tcPr>
                </a:tc>
              </a:tr>
              <a:tr h="779225">
                <a:tc>
                  <a:txBody>
                    <a:bodyPr/>
                    <a:lstStyle/>
                    <a:p>
                      <a:pPr indent="0" lvl="0" marL="0" marR="0" rtl="0" algn="l">
                        <a:spcBef>
                          <a:spcPts val="0"/>
                        </a:spcBef>
                        <a:spcAft>
                          <a:spcPts val="0"/>
                        </a:spcAft>
                        <a:buClr>
                          <a:schemeClr val="dk1"/>
                        </a:buClr>
                        <a:buSzPts val="1500"/>
                        <a:buFont typeface="Arial"/>
                        <a:buNone/>
                      </a:pPr>
                      <a:r>
                        <a:rPr lang="en-GB" sz="1500" u="none" cap="none" strike="noStrike"/>
                        <a:t>State</a:t>
                      </a:r>
                      <a:endParaRPr/>
                    </a:p>
                  </a:txBody>
                  <a:tcPr marT="26250" marB="26250" marR="83975" marL="83975" anchor="ctr">
                    <a:lnL cap="flat" cmpd="sng" w="12700">
                      <a:solidFill>
                        <a:srgbClr val="E5E7EB"/>
                      </a:solidFill>
                      <a:prstDash val="solid"/>
                      <a:round/>
                      <a:headEnd len="sm" w="sm" type="none"/>
                      <a:tailEnd len="sm" w="sm" type="none"/>
                    </a:lnL>
                    <a:lnR cap="flat" cmpd="sng" w="12700">
                      <a:solidFill>
                        <a:srgbClr val="E5E7EB"/>
                      </a:solidFill>
                      <a:prstDash val="solid"/>
                      <a:round/>
                      <a:headEnd len="sm" w="sm" type="none"/>
                      <a:tailEnd len="sm" w="sm" type="none"/>
                    </a:lnR>
                    <a:lnT cap="flat" cmpd="sng" w="12700">
                      <a:solidFill>
                        <a:srgbClr val="E5E7EB"/>
                      </a:solidFill>
                      <a:prstDash val="solid"/>
                      <a:round/>
                      <a:headEnd len="sm" w="sm" type="none"/>
                      <a:tailEnd len="sm" w="sm" type="none"/>
                    </a:lnT>
                    <a:lnB cap="flat" cmpd="sng" w="12700">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500"/>
                        <a:buFont typeface="Arial"/>
                        <a:buNone/>
                      </a:pPr>
                      <a:r>
                        <a:rPr lang="en-GB" sz="1500" u="none" cap="none" strike="noStrike"/>
                        <a:t>Direct answer</a:t>
                      </a:r>
                      <a:endParaRPr/>
                    </a:p>
                  </a:txBody>
                  <a:tcPr marT="26250" marB="26250" marR="83975" marL="83975" anchor="ctr">
                    <a:lnL cap="flat" cmpd="sng" w="12700">
                      <a:solidFill>
                        <a:srgbClr val="E5E7EB"/>
                      </a:solidFill>
                      <a:prstDash val="solid"/>
                      <a:round/>
                      <a:headEnd len="sm" w="sm" type="none"/>
                      <a:tailEnd len="sm" w="sm" type="none"/>
                    </a:lnL>
                    <a:lnR cap="flat" cmpd="sng" w="12700">
                      <a:solidFill>
                        <a:srgbClr val="E5E7EB"/>
                      </a:solidFill>
                      <a:prstDash val="solid"/>
                      <a:round/>
                      <a:headEnd len="sm" w="sm" type="none"/>
                      <a:tailEnd len="sm" w="sm" type="none"/>
                    </a:lnR>
                    <a:lnT cap="flat" cmpd="sng" w="12700">
                      <a:solidFill>
                        <a:srgbClr val="E5E7EB"/>
                      </a:solidFill>
                      <a:prstDash val="solid"/>
                      <a:round/>
                      <a:headEnd len="sm" w="sm" type="none"/>
                      <a:tailEnd len="sm" w="sm" type="none"/>
                    </a:lnT>
                    <a:lnB cap="flat" cmpd="sng" w="12700">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500"/>
                        <a:buFont typeface="Arial"/>
                        <a:buNone/>
                      </a:pPr>
                      <a:r>
                        <a:rPr lang="en-GB" sz="1500" u="none" cap="none" strike="noStrike"/>
                        <a:t>Addresses question clearly</a:t>
                      </a:r>
                      <a:endParaRPr/>
                    </a:p>
                  </a:txBody>
                  <a:tcPr marT="26250" marB="26250" marR="83975" marL="83975" anchor="ctr">
                    <a:lnL cap="flat" cmpd="sng" w="12700">
                      <a:solidFill>
                        <a:srgbClr val="E5E7EB"/>
                      </a:solidFill>
                      <a:prstDash val="solid"/>
                      <a:round/>
                      <a:headEnd len="sm" w="sm" type="none"/>
                      <a:tailEnd len="sm" w="sm" type="none"/>
                    </a:lnL>
                    <a:lnR cap="flat" cmpd="sng" w="12700">
                      <a:solidFill>
                        <a:srgbClr val="E5E7EB"/>
                      </a:solidFill>
                      <a:prstDash val="solid"/>
                      <a:round/>
                      <a:headEnd len="sm" w="sm" type="none"/>
                      <a:tailEnd len="sm" w="sm" type="none"/>
                    </a:lnR>
                    <a:lnT cap="flat" cmpd="sng" w="12700">
                      <a:solidFill>
                        <a:srgbClr val="E5E7EB"/>
                      </a:solidFill>
                      <a:prstDash val="solid"/>
                      <a:round/>
                      <a:headEnd len="sm" w="sm" type="none"/>
                      <a:tailEnd len="sm" w="sm" type="none"/>
                    </a:lnT>
                    <a:lnB cap="flat" cmpd="sng" w="12700">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500"/>
                        <a:buFont typeface="Arial"/>
                        <a:buNone/>
                      </a:pPr>
                      <a:r>
                        <a:rPr lang="en-GB" sz="1500" u="none" cap="none" strike="noStrike"/>
                        <a:t>Confidentiality is a fundamental principle in secure software design.</a:t>
                      </a:r>
                      <a:endParaRPr/>
                    </a:p>
                  </a:txBody>
                  <a:tcPr marT="26250" marB="26250" marR="83975" marL="83975" anchor="ctr">
                    <a:lnL cap="flat" cmpd="sng" w="12700">
                      <a:solidFill>
                        <a:srgbClr val="E5E7EB"/>
                      </a:solidFill>
                      <a:prstDash val="solid"/>
                      <a:round/>
                      <a:headEnd len="sm" w="sm" type="none"/>
                      <a:tailEnd len="sm" w="sm" type="none"/>
                    </a:lnL>
                    <a:lnR cap="flat" cmpd="sng" w="12700">
                      <a:solidFill>
                        <a:srgbClr val="E5E7EB"/>
                      </a:solidFill>
                      <a:prstDash val="solid"/>
                      <a:round/>
                      <a:headEnd len="sm" w="sm" type="none"/>
                      <a:tailEnd len="sm" w="sm" type="none"/>
                    </a:lnR>
                    <a:lnT cap="flat" cmpd="sng" w="12700">
                      <a:solidFill>
                        <a:srgbClr val="E5E7EB"/>
                      </a:solidFill>
                      <a:prstDash val="solid"/>
                      <a:round/>
                      <a:headEnd len="sm" w="sm" type="none"/>
                      <a:tailEnd len="sm" w="sm" type="none"/>
                    </a:lnT>
                    <a:lnB cap="flat" cmpd="sng" w="12700">
                      <a:solidFill>
                        <a:srgbClr val="E5E7EB"/>
                      </a:solidFill>
                      <a:prstDash val="solid"/>
                      <a:round/>
                      <a:headEnd len="sm" w="sm" type="none"/>
                      <a:tailEnd len="sm" w="sm" type="none"/>
                    </a:lnB>
                    <a:solidFill>
                      <a:srgbClr val="FFFFFF"/>
                    </a:solidFill>
                  </a:tcPr>
                </a:tc>
              </a:tr>
              <a:tr h="1240650">
                <a:tc>
                  <a:txBody>
                    <a:bodyPr/>
                    <a:lstStyle/>
                    <a:p>
                      <a:pPr indent="0" lvl="0" marL="0" marR="0" rtl="0" algn="l">
                        <a:spcBef>
                          <a:spcPts val="0"/>
                        </a:spcBef>
                        <a:spcAft>
                          <a:spcPts val="0"/>
                        </a:spcAft>
                        <a:buClr>
                          <a:schemeClr val="dk1"/>
                        </a:buClr>
                        <a:buSzPts val="1500"/>
                        <a:buFont typeface="Arial"/>
                        <a:buNone/>
                      </a:pPr>
                      <a:r>
                        <a:rPr lang="en-GB" sz="1500" u="none" cap="none" strike="noStrike"/>
                        <a:t>Explain</a:t>
                      </a:r>
                      <a:endParaRPr/>
                    </a:p>
                  </a:txBody>
                  <a:tcPr marT="26250" marB="26250" marR="83975" marL="83975" anchor="ctr">
                    <a:lnL cap="flat" cmpd="sng" w="12700">
                      <a:solidFill>
                        <a:srgbClr val="E5E7EB"/>
                      </a:solidFill>
                      <a:prstDash val="solid"/>
                      <a:round/>
                      <a:headEnd len="sm" w="sm" type="none"/>
                      <a:tailEnd len="sm" w="sm" type="none"/>
                    </a:lnL>
                    <a:lnR cap="flat" cmpd="sng" w="12700">
                      <a:solidFill>
                        <a:srgbClr val="E5E7EB"/>
                      </a:solidFill>
                      <a:prstDash val="solid"/>
                      <a:round/>
                      <a:headEnd len="sm" w="sm" type="none"/>
                      <a:tailEnd len="sm" w="sm" type="none"/>
                    </a:lnR>
                    <a:lnT cap="flat" cmpd="sng" w="12700">
                      <a:solidFill>
                        <a:srgbClr val="E5E7EB"/>
                      </a:solidFill>
                      <a:prstDash val="solid"/>
                      <a:round/>
                      <a:headEnd len="sm" w="sm" type="none"/>
                      <a:tailEnd len="sm" w="sm" type="none"/>
                    </a:lnT>
                    <a:lnB cap="flat" cmpd="sng" w="12700">
                      <a:solidFill>
                        <a:srgbClr val="E5E7EB"/>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chemeClr val="dk1"/>
                        </a:buClr>
                        <a:buSzPts val="1500"/>
                        <a:buFont typeface="Arial"/>
                        <a:buNone/>
                      </a:pPr>
                      <a:r>
                        <a:rPr lang="en-GB" sz="1500" u="none" cap="none" strike="noStrike"/>
                        <a:t>Clarifies and expands</a:t>
                      </a:r>
                      <a:endParaRPr/>
                    </a:p>
                  </a:txBody>
                  <a:tcPr marT="26250" marB="26250" marR="83975" marL="83975" anchor="ctr">
                    <a:lnL cap="flat" cmpd="sng" w="12700">
                      <a:solidFill>
                        <a:srgbClr val="E5E7EB"/>
                      </a:solidFill>
                      <a:prstDash val="solid"/>
                      <a:round/>
                      <a:headEnd len="sm" w="sm" type="none"/>
                      <a:tailEnd len="sm" w="sm" type="none"/>
                    </a:lnL>
                    <a:lnR cap="flat" cmpd="sng" w="12700">
                      <a:solidFill>
                        <a:srgbClr val="E5E7EB"/>
                      </a:solidFill>
                      <a:prstDash val="solid"/>
                      <a:round/>
                      <a:headEnd len="sm" w="sm" type="none"/>
                      <a:tailEnd len="sm" w="sm" type="none"/>
                    </a:lnR>
                    <a:lnT cap="flat" cmpd="sng" w="12700">
                      <a:solidFill>
                        <a:srgbClr val="E5E7EB"/>
                      </a:solidFill>
                      <a:prstDash val="solid"/>
                      <a:round/>
                      <a:headEnd len="sm" w="sm" type="none"/>
                      <a:tailEnd len="sm" w="sm" type="none"/>
                    </a:lnT>
                    <a:lnB cap="flat" cmpd="sng" w="12700">
                      <a:solidFill>
                        <a:srgbClr val="E5E7EB"/>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chemeClr val="dk1"/>
                        </a:buClr>
                        <a:buSzPts val="1500"/>
                        <a:buFont typeface="Arial"/>
                        <a:buNone/>
                      </a:pPr>
                      <a:r>
                        <a:rPr lang="en-GB" sz="1500" u="none" cap="none" strike="noStrike"/>
                        <a:t>Shows depth of understanding</a:t>
                      </a:r>
                      <a:endParaRPr/>
                    </a:p>
                  </a:txBody>
                  <a:tcPr marT="26250" marB="26250" marR="83975" marL="83975" anchor="ctr">
                    <a:lnL cap="flat" cmpd="sng" w="12700">
                      <a:solidFill>
                        <a:srgbClr val="E5E7EB"/>
                      </a:solidFill>
                      <a:prstDash val="solid"/>
                      <a:round/>
                      <a:headEnd len="sm" w="sm" type="none"/>
                      <a:tailEnd len="sm" w="sm" type="none"/>
                    </a:lnL>
                    <a:lnR cap="flat" cmpd="sng" w="12700">
                      <a:solidFill>
                        <a:srgbClr val="E5E7EB"/>
                      </a:solidFill>
                      <a:prstDash val="solid"/>
                      <a:round/>
                      <a:headEnd len="sm" w="sm" type="none"/>
                      <a:tailEnd len="sm" w="sm" type="none"/>
                    </a:lnR>
                    <a:lnT cap="flat" cmpd="sng" w="12700">
                      <a:solidFill>
                        <a:srgbClr val="E5E7EB"/>
                      </a:solidFill>
                      <a:prstDash val="solid"/>
                      <a:round/>
                      <a:headEnd len="sm" w="sm" type="none"/>
                      <a:tailEnd len="sm" w="sm" type="none"/>
                    </a:lnT>
                    <a:lnB cap="flat" cmpd="sng" w="12700">
                      <a:solidFill>
                        <a:srgbClr val="E5E7EB"/>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chemeClr val="dk1"/>
                        </a:buClr>
                        <a:buSzPts val="1500"/>
                        <a:buFont typeface="Arial"/>
                        <a:buNone/>
                      </a:pPr>
                      <a:r>
                        <a:rPr lang="en-GB" sz="1500" u="none" cap="none" strike="noStrike"/>
                        <a:t>Protecting confidentiality prevents unauthorised access and reduces risks such as identity theft.</a:t>
                      </a:r>
                      <a:endParaRPr/>
                    </a:p>
                  </a:txBody>
                  <a:tcPr marT="26250" marB="26250" marR="83975" marL="83975" anchor="ctr">
                    <a:lnL cap="flat" cmpd="sng" w="12700">
                      <a:solidFill>
                        <a:srgbClr val="E5E7EB"/>
                      </a:solidFill>
                      <a:prstDash val="solid"/>
                      <a:round/>
                      <a:headEnd len="sm" w="sm" type="none"/>
                      <a:tailEnd len="sm" w="sm" type="none"/>
                    </a:lnL>
                    <a:lnR cap="flat" cmpd="sng" w="12700">
                      <a:solidFill>
                        <a:srgbClr val="E5E7EB"/>
                      </a:solidFill>
                      <a:prstDash val="solid"/>
                      <a:round/>
                      <a:headEnd len="sm" w="sm" type="none"/>
                      <a:tailEnd len="sm" w="sm" type="none"/>
                    </a:lnR>
                    <a:lnT cap="flat" cmpd="sng" w="12700">
                      <a:solidFill>
                        <a:srgbClr val="E5E7EB"/>
                      </a:solidFill>
                      <a:prstDash val="solid"/>
                      <a:round/>
                      <a:headEnd len="sm" w="sm" type="none"/>
                      <a:tailEnd len="sm" w="sm" type="none"/>
                    </a:lnT>
                    <a:lnB cap="flat" cmpd="sng" w="12700">
                      <a:solidFill>
                        <a:srgbClr val="E5E7EB"/>
                      </a:solidFill>
                      <a:prstDash val="solid"/>
                      <a:round/>
                      <a:headEnd len="sm" w="sm" type="none"/>
                      <a:tailEnd len="sm" w="sm" type="none"/>
                    </a:lnB>
                    <a:solidFill>
                      <a:srgbClr val="F2F2F2"/>
                    </a:solidFill>
                  </a:tcPr>
                </a:tc>
              </a:tr>
              <a:tr h="1009925">
                <a:tc>
                  <a:txBody>
                    <a:bodyPr/>
                    <a:lstStyle/>
                    <a:p>
                      <a:pPr indent="0" lvl="0" marL="0" marR="0" rtl="0" algn="l">
                        <a:spcBef>
                          <a:spcPts val="0"/>
                        </a:spcBef>
                        <a:spcAft>
                          <a:spcPts val="0"/>
                        </a:spcAft>
                        <a:buClr>
                          <a:schemeClr val="dk1"/>
                        </a:buClr>
                        <a:buSzPts val="1500"/>
                        <a:buFont typeface="Arial"/>
                        <a:buNone/>
                      </a:pPr>
                      <a:r>
                        <a:rPr lang="en-GB" sz="1500" u="none" cap="none" strike="noStrike"/>
                        <a:t>Example</a:t>
                      </a:r>
                      <a:endParaRPr/>
                    </a:p>
                  </a:txBody>
                  <a:tcPr marT="26250" marB="26250" marR="83975" marL="83975" anchor="ctr">
                    <a:lnL cap="flat" cmpd="sng" w="12700">
                      <a:solidFill>
                        <a:srgbClr val="E5E7EB"/>
                      </a:solidFill>
                      <a:prstDash val="solid"/>
                      <a:round/>
                      <a:headEnd len="sm" w="sm" type="none"/>
                      <a:tailEnd len="sm" w="sm" type="none"/>
                    </a:lnL>
                    <a:lnR cap="flat" cmpd="sng" w="12700">
                      <a:solidFill>
                        <a:srgbClr val="E5E7EB"/>
                      </a:solidFill>
                      <a:prstDash val="solid"/>
                      <a:round/>
                      <a:headEnd len="sm" w="sm" type="none"/>
                      <a:tailEnd len="sm" w="sm" type="none"/>
                    </a:lnR>
                    <a:lnT cap="flat" cmpd="sng" w="12700">
                      <a:solidFill>
                        <a:srgbClr val="E5E7EB"/>
                      </a:solidFill>
                      <a:prstDash val="solid"/>
                      <a:round/>
                      <a:headEnd len="sm" w="sm" type="none"/>
                      <a:tailEnd len="sm" w="sm" type="none"/>
                    </a:lnT>
                    <a:lnB cap="flat" cmpd="sng" w="12700">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500"/>
                        <a:buFont typeface="Arial"/>
                        <a:buNone/>
                      </a:pPr>
                      <a:r>
                        <a:rPr lang="en-GB" sz="1500" u="none" cap="none" strike="noStrike"/>
                        <a:t>Concrete illustration</a:t>
                      </a:r>
                      <a:endParaRPr/>
                    </a:p>
                  </a:txBody>
                  <a:tcPr marT="26250" marB="26250" marR="83975" marL="83975" anchor="ctr">
                    <a:lnL cap="flat" cmpd="sng" w="12700">
                      <a:solidFill>
                        <a:srgbClr val="E5E7EB"/>
                      </a:solidFill>
                      <a:prstDash val="solid"/>
                      <a:round/>
                      <a:headEnd len="sm" w="sm" type="none"/>
                      <a:tailEnd len="sm" w="sm" type="none"/>
                    </a:lnL>
                    <a:lnR cap="flat" cmpd="sng" w="12700">
                      <a:solidFill>
                        <a:srgbClr val="E5E7EB"/>
                      </a:solidFill>
                      <a:prstDash val="solid"/>
                      <a:round/>
                      <a:headEnd len="sm" w="sm" type="none"/>
                      <a:tailEnd len="sm" w="sm" type="none"/>
                    </a:lnR>
                    <a:lnT cap="flat" cmpd="sng" w="12700">
                      <a:solidFill>
                        <a:srgbClr val="E5E7EB"/>
                      </a:solidFill>
                      <a:prstDash val="solid"/>
                      <a:round/>
                      <a:headEnd len="sm" w="sm" type="none"/>
                      <a:tailEnd len="sm" w="sm" type="none"/>
                    </a:lnT>
                    <a:lnB cap="flat" cmpd="sng" w="12700">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500"/>
                        <a:buFont typeface="Arial"/>
                        <a:buNone/>
                      </a:pPr>
                      <a:r>
                        <a:rPr lang="en-GB" sz="1500" u="none" cap="none" strike="noStrike"/>
                        <a:t>Applies knowledge practically</a:t>
                      </a:r>
                      <a:endParaRPr/>
                    </a:p>
                  </a:txBody>
                  <a:tcPr marT="26250" marB="26250" marR="83975" marL="83975" anchor="ctr">
                    <a:lnL cap="flat" cmpd="sng" w="12700">
                      <a:solidFill>
                        <a:srgbClr val="E5E7EB"/>
                      </a:solidFill>
                      <a:prstDash val="solid"/>
                      <a:round/>
                      <a:headEnd len="sm" w="sm" type="none"/>
                      <a:tailEnd len="sm" w="sm" type="none"/>
                    </a:lnL>
                    <a:lnR cap="flat" cmpd="sng" w="12700">
                      <a:solidFill>
                        <a:srgbClr val="E5E7EB"/>
                      </a:solidFill>
                      <a:prstDash val="solid"/>
                      <a:round/>
                      <a:headEnd len="sm" w="sm" type="none"/>
                      <a:tailEnd len="sm" w="sm" type="none"/>
                    </a:lnR>
                    <a:lnT cap="flat" cmpd="sng" w="12700">
                      <a:solidFill>
                        <a:srgbClr val="E5E7EB"/>
                      </a:solidFill>
                      <a:prstDash val="solid"/>
                      <a:round/>
                      <a:headEnd len="sm" w="sm" type="none"/>
                      <a:tailEnd len="sm" w="sm" type="none"/>
                    </a:lnT>
                    <a:lnB cap="flat" cmpd="sng" w="12700">
                      <a:solidFill>
                        <a:srgbClr val="E5E7E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500"/>
                        <a:buFont typeface="Arial"/>
                        <a:buNone/>
                      </a:pPr>
                      <a:r>
                        <a:rPr lang="en-GB" sz="1500" u="none" cap="none" strike="noStrike"/>
                        <a:t>For example, online banking apps encrypt user data and require secure logins.</a:t>
                      </a:r>
                      <a:endParaRPr/>
                    </a:p>
                  </a:txBody>
                  <a:tcPr marT="26250" marB="26250" marR="83975" marL="83975" anchor="ctr">
                    <a:lnL cap="flat" cmpd="sng" w="12700">
                      <a:solidFill>
                        <a:srgbClr val="E5E7EB"/>
                      </a:solidFill>
                      <a:prstDash val="solid"/>
                      <a:round/>
                      <a:headEnd len="sm" w="sm" type="none"/>
                      <a:tailEnd len="sm" w="sm" type="none"/>
                    </a:lnL>
                    <a:lnR cap="flat" cmpd="sng" w="12700">
                      <a:solidFill>
                        <a:srgbClr val="E5E7EB"/>
                      </a:solidFill>
                      <a:prstDash val="solid"/>
                      <a:round/>
                      <a:headEnd len="sm" w="sm" type="none"/>
                      <a:tailEnd len="sm" w="sm" type="none"/>
                    </a:lnR>
                    <a:lnT cap="flat" cmpd="sng" w="12700">
                      <a:solidFill>
                        <a:srgbClr val="E5E7EB"/>
                      </a:solidFill>
                      <a:prstDash val="solid"/>
                      <a:round/>
                      <a:headEnd len="sm" w="sm" type="none"/>
                      <a:tailEnd len="sm" w="sm" type="none"/>
                    </a:lnT>
                    <a:lnB cap="flat" cmpd="sng" w="12700">
                      <a:solidFill>
                        <a:srgbClr val="E5E7EB"/>
                      </a:solidFill>
                      <a:prstDash val="solid"/>
                      <a:round/>
                      <a:headEnd len="sm" w="sm" type="none"/>
                      <a:tailEnd len="sm" w="sm" type="none"/>
                    </a:lnB>
                    <a:solidFill>
                      <a:srgbClr val="FFFFFF"/>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2026-02-13T01:02:23Z</dcterms:created>
  <dc:creator>Stephen Scott</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2026-02-13T01:05:37Z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98f74003-356c-464e-b83d-eaafe39e051a</vt:lpwstr>
  </property>
  <property fmtid="{D5CDD505-2E9C-101B-9397-08002B2CF9AE}" pid="8" name="MSIP_Label_b603dfd7-d93a-4381-a340-2995d8282205_ContentBits">
    <vt:lpwstr>0</vt:lpwstr>
  </property>
  <property fmtid="{D5CDD505-2E9C-101B-9397-08002B2CF9AE}" pid="9" name="MSIP_Label_b603dfd7-d93a-4381-a340-2995d8282205_Tag">
    <vt:lpwstr>10, 3, 0, 1</vt:lpwstr>
  </property>
  <property fmtid="{D5CDD505-2E9C-101B-9397-08002B2CF9AE}" pid="10" name="ContentTypeId">
    <vt:lpwstr>0x01010086165B216B35044D9EADD54BFB9FA5BE</vt:lpwstr>
  </property>
  <property fmtid="{D5CDD505-2E9C-101B-9397-08002B2CF9AE}" pid="11" name="MediaServiceImageTags">
    <vt:lpwstr/>
  </property>
</Properties>
</file>